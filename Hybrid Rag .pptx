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Helios Bold" charset="1" panose="020B0704020202020204"/>
      <p:regular r:id="rId10"/>
    </p:embeddedFont>
    <p:embeddedFont>
      <p:font typeface="Klein Bold" charset="1" panose="02000503060000020004"/>
      <p:regular r:id="rId11"/>
    </p:embeddedFont>
    <p:embeddedFont>
      <p:font typeface="Helios" charset="1" panose="020B0504020202020204"/>
      <p:regular r:id="rId12"/>
    </p:embeddedFont>
    <p:embeddedFont>
      <p:font typeface="Canva Sans Bold" charset="1" panose="020B0803030501040103"/>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Sahilkom/Intern_project/blob/main/all_tables_data.json"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https://colab.research.google.com/drive/1sp1IDb0odSeUW8AReoXdsKgb4Ej1xHBF?usp=sharing" TargetMode="External" Type="http://schemas.openxmlformats.org/officeDocument/2006/relationships/hyperlink"/><Relationship Id="rId14" Target="https://colab.research.google.com/drive/1sp1IDb0odSeUW8AReoXdsKgb4Ej1xHBF?usp=sharing" TargetMode="External" Type="http://schemas.openxmlformats.org/officeDocument/2006/relationships/hyperlink"/><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83550" y="5089077"/>
            <a:ext cx="1357604" cy="1357604"/>
          </a:xfrm>
          <a:custGeom>
            <a:avLst/>
            <a:gdLst/>
            <a:ahLst/>
            <a:cxnLst/>
            <a:rect r="r" b="b" t="t" l="l"/>
            <a:pathLst>
              <a:path h="1357604" w="1357604">
                <a:moveTo>
                  <a:pt x="0" y="0"/>
                </a:moveTo>
                <a:lnTo>
                  <a:pt x="1357603" y="0"/>
                </a:lnTo>
                <a:lnTo>
                  <a:pt x="1357603" y="1357604"/>
                </a:lnTo>
                <a:lnTo>
                  <a:pt x="0" y="13576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393949" y="-264628"/>
            <a:ext cx="29250925" cy="4812911"/>
            <a:chOff x="0" y="0"/>
            <a:chExt cx="7703947" cy="1267598"/>
          </a:xfrm>
        </p:grpSpPr>
        <p:sp>
          <p:nvSpPr>
            <p:cNvPr name="Freeform 4" id="4"/>
            <p:cNvSpPr/>
            <p:nvPr/>
          </p:nvSpPr>
          <p:spPr>
            <a:xfrm flipH="false" flipV="false" rot="0">
              <a:off x="0" y="0"/>
              <a:ext cx="7703948" cy="1267598"/>
            </a:xfrm>
            <a:custGeom>
              <a:avLst/>
              <a:gdLst/>
              <a:ahLst/>
              <a:cxnLst/>
              <a:rect r="r" b="b" t="t" l="l"/>
              <a:pathLst>
                <a:path h="1267598" w="7703948">
                  <a:moveTo>
                    <a:pt x="0" y="0"/>
                  </a:moveTo>
                  <a:lnTo>
                    <a:pt x="7703948" y="0"/>
                  </a:lnTo>
                  <a:lnTo>
                    <a:pt x="7703948" y="1267598"/>
                  </a:lnTo>
                  <a:lnTo>
                    <a:pt x="0" y="1267598"/>
                  </a:lnTo>
                  <a:close/>
                </a:path>
              </a:pathLst>
            </a:custGeom>
            <a:solidFill>
              <a:srgbClr val="FFFFFF"/>
            </a:solidFill>
          </p:spPr>
        </p:sp>
        <p:sp>
          <p:nvSpPr>
            <p:cNvPr name="TextBox 5" id="5"/>
            <p:cNvSpPr txBox="true"/>
            <p:nvPr/>
          </p:nvSpPr>
          <p:spPr>
            <a:xfrm>
              <a:off x="0" y="-38100"/>
              <a:ext cx="7703947" cy="1305698"/>
            </a:xfrm>
            <a:prstGeom prst="rect">
              <a:avLst/>
            </a:prstGeom>
          </p:spPr>
          <p:txBody>
            <a:bodyPr anchor="ctr" rtlCol="false" tIns="50800" lIns="50800" bIns="50800" rIns="50800"/>
            <a:lstStyle/>
            <a:p>
              <a:pPr algn="ctr">
                <a:lnSpc>
                  <a:spcPts val="2100"/>
                </a:lnSpc>
              </a:pPr>
            </a:p>
          </p:txBody>
        </p:sp>
      </p:grpSp>
      <p:grpSp>
        <p:nvGrpSpPr>
          <p:cNvPr name="Group 6" id="6"/>
          <p:cNvGrpSpPr/>
          <p:nvPr/>
        </p:nvGrpSpPr>
        <p:grpSpPr>
          <a:xfrm rot="0">
            <a:off x="8832044" y="2150142"/>
            <a:ext cx="1718748" cy="791566"/>
            <a:chOff x="0" y="0"/>
            <a:chExt cx="452674" cy="208478"/>
          </a:xfrm>
        </p:grpSpPr>
        <p:sp>
          <p:nvSpPr>
            <p:cNvPr name="Freeform 7" id="7"/>
            <p:cNvSpPr/>
            <p:nvPr/>
          </p:nvSpPr>
          <p:spPr>
            <a:xfrm flipH="false" flipV="false" rot="0">
              <a:off x="0" y="0"/>
              <a:ext cx="452674" cy="208478"/>
            </a:xfrm>
            <a:custGeom>
              <a:avLst/>
              <a:gdLst/>
              <a:ahLst/>
              <a:cxnLst/>
              <a:rect r="r" b="b" t="t" l="l"/>
              <a:pathLst>
                <a:path h="208478" w="452674">
                  <a:moveTo>
                    <a:pt x="104239" y="0"/>
                  </a:moveTo>
                  <a:lnTo>
                    <a:pt x="348435" y="0"/>
                  </a:lnTo>
                  <a:cubicBezTo>
                    <a:pt x="376081" y="0"/>
                    <a:pt x="402595" y="10982"/>
                    <a:pt x="422143" y="30531"/>
                  </a:cubicBezTo>
                  <a:cubicBezTo>
                    <a:pt x="441692" y="50080"/>
                    <a:pt x="452674" y="76593"/>
                    <a:pt x="452674" y="104239"/>
                  </a:cubicBezTo>
                  <a:lnTo>
                    <a:pt x="452674" y="104239"/>
                  </a:lnTo>
                  <a:cubicBezTo>
                    <a:pt x="452674" y="161809"/>
                    <a:pt x="406005" y="208478"/>
                    <a:pt x="348435" y="208478"/>
                  </a:cubicBezTo>
                  <a:lnTo>
                    <a:pt x="104239" y="208478"/>
                  </a:lnTo>
                  <a:cubicBezTo>
                    <a:pt x="46669" y="208478"/>
                    <a:pt x="0" y="161809"/>
                    <a:pt x="0" y="104239"/>
                  </a:cubicBezTo>
                  <a:lnTo>
                    <a:pt x="0" y="104239"/>
                  </a:lnTo>
                  <a:cubicBezTo>
                    <a:pt x="0" y="46669"/>
                    <a:pt x="46669" y="0"/>
                    <a:pt x="104239" y="0"/>
                  </a:cubicBezTo>
                  <a:close/>
                </a:path>
              </a:pathLst>
            </a:custGeom>
            <a:solidFill>
              <a:srgbClr val="153969"/>
            </a:solidFill>
            <a:ln cap="rnd">
              <a:noFill/>
              <a:prstDash val="solid"/>
              <a:round/>
            </a:ln>
          </p:spPr>
        </p:sp>
        <p:sp>
          <p:nvSpPr>
            <p:cNvPr name="TextBox 8" id="8"/>
            <p:cNvSpPr txBox="true"/>
            <p:nvPr/>
          </p:nvSpPr>
          <p:spPr>
            <a:xfrm>
              <a:off x="0" y="-57150"/>
              <a:ext cx="452674" cy="265628"/>
            </a:xfrm>
            <a:prstGeom prst="rect">
              <a:avLst/>
            </a:prstGeom>
          </p:spPr>
          <p:txBody>
            <a:bodyPr anchor="ctr" rtlCol="false" tIns="254000" lIns="254000" bIns="254000" rIns="254000"/>
            <a:lstStyle/>
            <a:p>
              <a:pPr algn="ctr">
                <a:lnSpc>
                  <a:spcPts val="3219"/>
                </a:lnSpc>
              </a:pPr>
              <a:r>
                <a:rPr lang="en-US" sz="2299">
                  <a:solidFill>
                    <a:srgbClr val="FFFFFF"/>
                  </a:solidFill>
                  <a:latin typeface="Helios Bold"/>
                  <a:ea typeface="Helios Bold"/>
                  <a:cs typeface="Helios Bold"/>
                  <a:sym typeface="Helios Bold"/>
                </a:rPr>
                <a:t>Tables</a:t>
              </a:r>
            </a:p>
          </p:txBody>
        </p:sp>
      </p:grpSp>
      <p:sp>
        <p:nvSpPr>
          <p:cNvPr name="AutoShape 9" id="9"/>
          <p:cNvSpPr/>
          <p:nvPr/>
        </p:nvSpPr>
        <p:spPr>
          <a:xfrm flipV="true">
            <a:off x="10550791" y="1214876"/>
            <a:ext cx="1151794" cy="1331049"/>
          </a:xfrm>
          <a:prstGeom prst="line">
            <a:avLst/>
          </a:prstGeom>
          <a:ln cap="flat" w="19050">
            <a:solidFill>
              <a:srgbClr val="2A2E3A"/>
            </a:solidFill>
            <a:prstDash val="lgDash"/>
            <a:headEnd type="none" len="sm" w="sm"/>
            <a:tailEnd type="arrow" len="sm" w="med"/>
          </a:ln>
        </p:spPr>
      </p:sp>
      <p:grpSp>
        <p:nvGrpSpPr>
          <p:cNvPr name="Group 10" id="10"/>
          <p:cNvGrpSpPr/>
          <p:nvPr/>
        </p:nvGrpSpPr>
        <p:grpSpPr>
          <a:xfrm rot="0">
            <a:off x="11702585" y="843591"/>
            <a:ext cx="1916065" cy="742569"/>
            <a:chOff x="0" y="0"/>
            <a:chExt cx="504643" cy="195574"/>
          </a:xfrm>
        </p:grpSpPr>
        <p:sp>
          <p:nvSpPr>
            <p:cNvPr name="Freeform 11" id="11"/>
            <p:cNvSpPr/>
            <p:nvPr/>
          </p:nvSpPr>
          <p:spPr>
            <a:xfrm flipH="false" flipV="false" rot="0">
              <a:off x="0" y="0"/>
              <a:ext cx="504643" cy="195574"/>
            </a:xfrm>
            <a:custGeom>
              <a:avLst/>
              <a:gdLst/>
              <a:ahLst/>
              <a:cxnLst/>
              <a:rect r="r" b="b" t="t" l="l"/>
              <a:pathLst>
                <a:path h="195574" w="504643">
                  <a:moveTo>
                    <a:pt x="97787" y="0"/>
                  </a:moveTo>
                  <a:lnTo>
                    <a:pt x="406856" y="0"/>
                  </a:lnTo>
                  <a:cubicBezTo>
                    <a:pt x="432791" y="0"/>
                    <a:pt x="457663" y="10303"/>
                    <a:pt x="476002" y="28641"/>
                  </a:cubicBezTo>
                  <a:cubicBezTo>
                    <a:pt x="494340" y="46980"/>
                    <a:pt x="504643" y="71852"/>
                    <a:pt x="504643" y="97787"/>
                  </a:cubicBezTo>
                  <a:lnTo>
                    <a:pt x="504643" y="97787"/>
                  </a:lnTo>
                  <a:cubicBezTo>
                    <a:pt x="504643" y="123722"/>
                    <a:pt x="494340" y="148594"/>
                    <a:pt x="476002" y="166933"/>
                  </a:cubicBezTo>
                  <a:cubicBezTo>
                    <a:pt x="457663" y="185271"/>
                    <a:pt x="432791" y="195574"/>
                    <a:pt x="406856" y="195574"/>
                  </a:cubicBezTo>
                  <a:lnTo>
                    <a:pt x="97787" y="195574"/>
                  </a:lnTo>
                  <a:cubicBezTo>
                    <a:pt x="71852" y="195574"/>
                    <a:pt x="46980" y="185271"/>
                    <a:pt x="28641" y="166933"/>
                  </a:cubicBezTo>
                  <a:cubicBezTo>
                    <a:pt x="10303" y="148594"/>
                    <a:pt x="0" y="123722"/>
                    <a:pt x="0" y="97787"/>
                  </a:cubicBezTo>
                  <a:lnTo>
                    <a:pt x="0" y="97787"/>
                  </a:lnTo>
                  <a:cubicBezTo>
                    <a:pt x="0" y="71852"/>
                    <a:pt x="10303" y="46980"/>
                    <a:pt x="28641" y="28641"/>
                  </a:cubicBezTo>
                  <a:cubicBezTo>
                    <a:pt x="46980" y="10303"/>
                    <a:pt x="71852" y="0"/>
                    <a:pt x="97787" y="0"/>
                  </a:cubicBezTo>
                  <a:close/>
                </a:path>
              </a:pathLst>
            </a:custGeom>
            <a:solidFill>
              <a:srgbClr val="718BAB"/>
            </a:solidFill>
            <a:ln cap="rnd">
              <a:noFill/>
              <a:prstDash val="solid"/>
              <a:round/>
            </a:ln>
          </p:spPr>
        </p:sp>
        <p:sp>
          <p:nvSpPr>
            <p:cNvPr name="TextBox 12" id="12"/>
            <p:cNvSpPr txBox="true"/>
            <p:nvPr/>
          </p:nvSpPr>
          <p:spPr>
            <a:xfrm>
              <a:off x="0" y="-57150"/>
              <a:ext cx="504643" cy="252724"/>
            </a:xfrm>
            <a:prstGeom prst="rect">
              <a:avLst/>
            </a:prstGeom>
          </p:spPr>
          <p:txBody>
            <a:bodyPr anchor="ctr" rtlCol="false" tIns="254000" lIns="254000" bIns="254000" rIns="254000"/>
            <a:lstStyle/>
            <a:p>
              <a:pPr algn="ctr">
                <a:lnSpc>
                  <a:spcPts val="2800"/>
                </a:lnSpc>
              </a:pPr>
              <a:r>
                <a:rPr lang="en-US" sz="2000">
                  <a:solidFill>
                    <a:srgbClr val="2A2E3A"/>
                  </a:solidFill>
                  <a:latin typeface="Helios Bold"/>
                  <a:ea typeface="Helios Bold"/>
                  <a:cs typeface="Helios Bold"/>
                  <a:sym typeface="Helios Bold"/>
                </a:rPr>
                <a:t>Table Name </a:t>
              </a:r>
            </a:p>
          </p:txBody>
        </p:sp>
      </p:grpSp>
      <p:grpSp>
        <p:nvGrpSpPr>
          <p:cNvPr name="Group 13" id="13"/>
          <p:cNvGrpSpPr/>
          <p:nvPr/>
        </p:nvGrpSpPr>
        <p:grpSpPr>
          <a:xfrm rot="0">
            <a:off x="11702585" y="2174640"/>
            <a:ext cx="2121979" cy="742569"/>
            <a:chOff x="0" y="0"/>
            <a:chExt cx="558875" cy="195574"/>
          </a:xfrm>
        </p:grpSpPr>
        <p:sp>
          <p:nvSpPr>
            <p:cNvPr name="Freeform 14" id="14"/>
            <p:cNvSpPr/>
            <p:nvPr/>
          </p:nvSpPr>
          <p:spPr>
            <a:xfrm flipH="false" flipV="false" rot="0">
              <a:off x="0" y="0"/>
              <a:ext cx="558875" cy="195574"/>
            </a:xfrm>
            <a:custGeom>
              <a:avLst/>
              <a:gdLst/>
              <a:ahLst/>
              <a:cxnLst/>
              <a:rect r="r" b="b" t="t" l="l"/>
              <a:pathLst>
                <a:path h="195574" w="558875">
                  <a:moveTo>
                    <a:pt x="97787" y="0"/>
                  </a:moveTo>
                  <a:lnTo>
                    <a:pt x="461088" y="0"/>
                  </a:lnTo>
                  <a:cubicBezTo>
                    <a:pt x="487023" y="0"/>
                    <a:pt x="511895" y="10303"/>
                    <a:pt x="530234" y="28641"/>
                  </a:cubicBezTo>
                  <a:cubicBezTo>
                    <a:pt x="548573" y="46980"/>
                    <a:pt x="558875" y="71852"/>
                    <a:pt x="558875" y="97787"/>
                  </a:cubicBezTo>
                  <a:lnTo>
                    <a:pt x="558875" y="97787"/>
                  </a:lnTo>
                  <a:cubicBezTo>
                    <a:pt x="558875" y="123722"/>
                    <a:pt x="548573" y="148594"/>
                    <a:pt x="530234" y="166933"/>
                  </a:cubicBezTo>
                  <a:cubicBezTo>
                    <a:pt x="511895" y="185271"/>
                    <a:pt x="487023" y="195574"/>
                    <a:pt x="461088" y="195574"/>
                  </a:cubicBezTo>
                  <a:lnTo>
                    <a:pt x="97787" y="195574"/>
                  </a:lnTo>
                  <a:cubicBezTo>
                    <a:pt x="71852" y="195574"/>
                    <a:pt x="46980" y="185271"/>
                    <a:pt x="28641" y="166933"/>
                  </a:cubicBezTo>
                  <a:cubicBezTo>
                    <a:pt x="10303" y="148594"/>
                    <a:pt x="0" y="123722"/>
                    <a:pt x="0" y="97787"/>
                  </a:cubicBezTo>
                  <a:lnTo>
                    <a:pt x="0" y="97787"/>
                  </a:lnTo>
                  <a:cubicBezTo>
                    <a:pt x="0" y="71852"/>
                    <a:pt x="10303" y="46980"/>
                    <a:pt x="28641" y="28641"/>
                  </a:cubicBezTo>
                  <a:cubicBezTo>
                    <a:pt x="46980" y="10303"/>
                    <a:pt x="71852" y="0"/>
                    <a:pt x="97787" y="0"/>
                  </a:cubicBezTo>
                  <a:close/>
                </a:path>
              </a:pathLst>
            </a:custGeom>
            <a:solidFill>
              <a:srgbClr val="718BAB"/>
            </a:solidFill>
            <a:ln cap="rnd">
              <a:noFill/>
              <a:prstDash val="solid"/>
              <a:round/>
            </a:ln>
          </p:spPr>
        </p:sp>
        <p:sp>
          <p:nvSpPr>
            <p:cNvPr name="TextBox 15" id="15"/>
            <p:cNvSpPr txBox="true"/>
            <p:nvPr/>
          </p:nvSpPr>
          <p:spPr>
            <a:xfrm>
              <a:off x="0" y="-57150"/>
              <a:ext cx="558875" cy="252724"/>
            </a:xfrm>
            <a:prstGeom prst="rect">
              <a:avLst/>
            </a:prstGeom>
          </p:spPr>
          <p:txBody>
            <a:bodyPr anchor="ctr" rtlCol="false" tIns="254000" lIns="254000" bIns="254000" rIns="254000"/>
            <a:lstStyle/>
            <a:p>
              <a:pPr algn="ctr">
                <a:lnSpc>
                  <a:spcPts val="2800"/>
                </a:lnSpc>
              </a:pPr>
              <a:r>
                <a:rPr lang="en-US" sz="2000">
                  <a:solidFill>
                    <a:srgbClr val="2A2E3A"/>
                  </a:solidFill>
                  <a:latin typeface="Helios Bold"/>
                  <a:ea typeface="Helios Bold"/>
                  <a:cs typeface="Helios Bold"/>
                  <a:sym typeface="Helios Bold"/>
                </a:rPr>
                <a:t>Column Name</a:t>
              </a:r>
            </a:p>
          </p:txBody>
        </p:sp>
      </p:grpSp>
      <p:sp>
        <p:nvSpPr>
          <p:cNvPr name="AutoShape 16" id="16"/>
          <p:cNvSpPr/>
          <p:nvPr/>
        </p:nvSpPr>
        <p:spPr>
          <a:xfrm flipV="true">
            <a:off x="10550791" y="2545924"/>
            <a:ext cx="1151794" cy="0"/>
          </a:xfrm>
          <a:prstGeom prst="line">
            <a:avLst/>
          </a:prstGeom>
          <a:ln cap="flat" w="19050">
            <a:solidFill>
              <a:srgbClr val="2A2E3A"/>
            </a:solidFill>
            <a:prstDash val="lgDash"/>
            <a:headEnd type="none" len="sm" w="sm"/>
            <a:tailEnd type="arrow" len="sm" w="med"/>
          </a:ln>
        </p:spPr>
      </p:sp>
      <p:grpSp>
        <p:nvGrpSpPr>
          <p:cNvPr name="Group 17" id="17"/>
          <p:cNvGrpSpPr/>
          <p:nvPr/>
        </p:nvGrpSpPr>
        <p:grpSpPr>
          <a:xfrm rot="0">
            <a:off x="14770278" y="887597"/>
            <a:ext cx="2008055" cy="654558"/>
            <a:chOff x="0" y="0"/>
            <a:chExt cx="528870" cy="172394"/>
          </a:xfrm>
        </p:grpSpPr>
        <p:sp>
          <p:nvSpPr>
            <p:cNvPr name="Freeform 18" id="18"/>
            <p:cNvSpPr/>
            <p:nvPr/>
          </p:nvSpPr>
          <p:spPr>
            <a:xfrm flipH="false" flipV="false" rot="0">
              <a:off x="0" y="0"/>
              <a:ext cx="528870" cy="172394"/>
            </a:xfrm>
            <a:custGeom>
              <a:avLst/>
              <a:gdLst/>
              <a:ahLst/>
              <a:cxnLst/>
              <a:rect r="r" b="b" t="t" l="l"/>
              <a:pathLst>
                <a:path h="172394" w="528870">
                  <a:moveTo>
                    <a:pt x="86197" y="0"/>
                  </a:moveTo>
                  <a:lnTo>
                    <a:pt x="442674" y="0"/>
                  </a:lnTo>
                  <a:cubicBezTo>
                    <a:pt x="490279" y="0"/>
                    <a:pt x="528870" y="38592"/>
                    <a:pt x="528870" y="86197"/>
                  </a:cubicBezTo>
                  <a:lnTo>
                    <a:pt x="528870" y="86197"/>
                  </a:lnTo>
                  <a:cubicBezTo>
                    <a:pt x="528870" y="133802"/>
                    <a:pt x="490279" y="172394"/>
                    <a:pt x="442674" y="172394"/>
                  </a:cubicBezTo>
                  <a:lnTo>
                    <a:pt x="86197" y="172394"/>
                  </a:lnTo>
                  <a:cubicBezTo>
                    <a:pt x="38592" y="172394"/>
                    <a:pt x="0" y="133802"/>
                    <a:pt x="0" y="86197"/>
                  </a:cubicBezTo>
                  <a:lnTo>
                    <a:pt x="0" y="86197"/>
                  </a:lnTo>
                  <a:cubicBezTo>
                    <a:pt x="0" y="38592"/>
                    <a:pt x="38592" y="0"/>
                    <a:pt x="86197" y="0"/>
                  </a:cubicBezTo>
                  <a:close/>
                </a:path>
              </a:pathLst>
            </a:custGeom>
            <a:solidFill>
              <a:srgbClr val="C0CFE1"/>
            </a:solidFill>
            <a:ln cap="rnd">
              <a:noFill/>
              <a:prstDash val="solid"/>
              <a:round/>
            </a:ln>
          </p:spPr>
        </p:sp>
        <p:sp>
          <p:nvSpPr>
            <p:cNvPr name="TextBox 19" id="19"/>
            <p:cNvSpPr txBox="true"/>
            <p:nvPr/>
          </p:nvSpPr>
          <p:spPr>
            <a:xfrm>
              <a:off x="0" y="-38100"/>
              <a:ext cx="528870" cy="210494"/>
            </a:xfrm>
            <a:prstGeom prst="rect">
              <a:avLst/>
            </a:prstGeom>
          </p:spPr>
          <p:txBody>
            <a:bodyPr anchor="ctr" rtlCol="false" tIns="254000" lIns="254000" bIns="254000" rIns="254000"/>
            <a:lstStyle/>
            <a:p>
              <a:pPr algn="ctr">
                <a:lnSpc>
                  <a:spcPts val="2100"/>
                </a:lnSpc>
              </a:pPr>
              <a:r>
                <a:rPr lang="en-US" sz="1500">
                  <a:solidFill>
                    <a:srgbClr val="2A2E3A"/>
                  </a:solidFill>
                  <a:latin typeface="Helios Bold"/>
                  <a:ea typeface="Helios Bold"/>
                  <a:cs typeface="Helios Bold"/>
                  <a:sym typeface="Helios Bold"/>
                </a:rPr>
                <a:t>Table Description</a:t>
              </a:r>
            </a:p>
          </p:txBody>
        </p:sp>
      </p:grpSp>
      <p:sp>
        <p:nvSpPr>
          <p:cNvPr name="AutoShape 20" id="20"/>
          <p:cNvSpPr/>
          <p:nvPr/>
        </p:nvSpPr>
        <p:spPr>
          <a:xfrm>
            <a:off x="13618651" y="1214876"/>
            <a:ext cx="1151627" cy="0"/>
          </a:xfrm>
          <a:prstGeom prst="line">
            <a:avLst/>
          </a:prstGeom>
          <a:ln cap="flat" w="19050">
            <a:solidFill>
              <a:srgbClr val="2A2E3A"/>
            </a:solidFill>
            <a:prstDash val="lgDash"/>
            <a:headEnd type="none" len="sm" w="sm"/>
            <a:tailEnd type="arrow" len="sm" w="med"/>
          </a:ln>
        </p:spPr>
      </p:sp>
      <p:sp>
        <p:nvSpPr>
          <p:cNvPr name="AutoShape 21" id="21"/>
          <p:cNvSpPr/>
          <p:nvPr/>
        </p:nvSpPr>
        <p:spPr>
          <a:xfrm>
            <a:off x="13824565" y="2545924"/>
            <a:ext cx="888563" cy="24498"/>
          </a:xfrm>
          <a:prstGeom prst="line">
            <a:avLst/>
          </a:prstGeom>
          <a:ln cap="flat" w="19050">
            <a:solidFill>
              <a:srgbClr val="2A2E3A"/>
            </a:solidFill>
            <a:prstDash val="lgDash"/>
            <a:headEnd type="none" len="sm" w="sm"/>
            <a:tailEnd type="arrow" len="sm" w="med"/>
          </a:ln>
        </p:spPr>
      </p:sp>
      <p:grpSp>
        <p:nvGrpSpPr>
          <p:cNvPr name="Group 22" id="22"/>
          <p:cNvGrpSpPr/>
          <p:nvPr/>
        </p:nvGrpSpPr>
        <p:grpSpPr>
          <a:xfrm rot="0">
            <a:off x="14713128" y="2243144"/>
            <a:ext cx="2241372" cy="654558"/>
            <a:chOff x="0" y="0"/>
            <a:chExt cx="590320" cy="172394"/>
          </a:xfrm>
        </p:grpSpPr>
        <p:sp>
          <p:nvSpPr>
            <p:cNvPr name="Freeform 23" id="23"/>
            <p:cNvSpPr/>
            <p:nvPr/>
          </p:nvSpPr>
          <p:spPr>
            <a:xfrm flipH="false" flipV="false" rot="0">
              <a:off x="0" y="0"/>
              <a:ext cx="590320" cy="172394"/>
            </a:xfrm>
            <a:custGeom>
              <a:avLst/>
              <a:gdLst/>
              <a:ahLst/>
              <a:cxnLst/>
              <a:rect r="r" b="b" t="t" l="l"/>
              <a:pathLst>
                <a:path h="172394" w="590320">
                  <a:moveTo>
                    <a:pt x="86197" y="0"/>
                  </a:moveTo>
                  <a:lnTo>
                    <a:pt x="504123" y="0"/>
                  </a:lnTo>
                  <a:cubicBezTo>
                    <a:pt x="551729" y="0"/>
                    <a:pt x="590320" y="38592"/>
                    <a:pt x="590320" y="86197"/>
                  </a:cubicBezTo>
                  <a:lnTo>
                    <a:pt x="590320" y="86197"/>
                  </a:lnTo>
                  <a:cubicBezTo>
                    <a:pt x="590320" y="133802"/>
                    <a:pt x="551729" y="172394"/>
                    <a:pt x="504123" y="172394"/>
                  </a:cubicBezTo>
                  <a:lnTo>
                    <a:pt x="86197" y="172394"/>
                  </a:lnTo>
                  <a:cubicBezTo>
                    <a:pt x="38592" y="172394"/>
                    <a:pt x="0" y="133802"/>
                    <a:pt x="0" y="86197"/>
                  </a:cubicBezTo>
                  <a:lnTo>
                    <a:pt x="0" y="86197"/>
                  </a:lnTo>
                  <a:cubicBezTo>
                    <a:pt x="0" y="38592"/>
                    <a:pt x="38592" y="0"/>
                    <a:pt x="86197" y="0"/>
                  </a:cubicBezTo>
                  <a:close/>
                </a:path>
              </a:pathLst>
            </a:custGeom>
            <a:solidFill>
              <a:srgbClr val="F4F4F4"/>
            </a:solidFill>
            <a:ln cap="rnd">
              <a:noFill/>
              <a:prstDash val="solid"/>
              <a:round/>
            </a:ln>
          </p:spPr>
        </p:sp>
        <p:sp>
          <p:nvSpPr>
            <p:cNvPr name="TextBox 24" id="24"/>
            <p:cNvSpPr txBox="true"/>
            <p:nvPr/>
          </p:nvSpPr>
          <p:spPr>
            <a:xfrm>
              <a:off x="0" y="-38100"/>
              <a:ext cx="590320" cy="210494"/>
            </a:xfrm>
            <a:prstGeom prst="rect">
              <a:avLst/>
            </a:prstGeom>
          </p:spPr>
          <p:txBody>
            <a:bodyPr anchor="ctr" rtlCol="false" tIns="254000" lIns="254000" bIns="254000" rIns="254000"/>
            <a:lstStyle/>
            <a:p>
              <a:pPr algn="ctr">
                <a:lnSpc>
                  <a:spcPts val="2100"/>
                </a:lnSpc>
              </a:pPr>
              <a:r>
                <a:rPr lang="en-US" sz="1500">
                  <a:solidFill>
                    <a:srgbClr val="2A2E3A"/>
                  </a:solidFill>
                  <a:latin typeface="Helios Bold"/>
                  <a:ea typeface="Helios Bold"/>
                  <a:cs typeface="Helios Bold"/>
                  <a:sym typeface="Helios Bold"/>
                </a:rPr>
                <a:t>Column Description</a:t>
              </a:r>
            </a:p>
          </p:txBody>
        </p:sp>
      </p:grpSp>
      <p:grpSp>
        <p:nvGrpSpPr>
          <p:cNvPr name="Group 25" id="25"/>
          <p:cNvGrpSpPr/>
          <p:nvPr/>
        </p:nvGrpSpPr>
        <p:grpSpPr>
          <a:xfrm rot="0">
            <a:off x="11814561" y="3507759"/>
            <a:ext cx="1623897" cy="742569"/>
            <a:chOff x="0" y="0"/>
            <a:chExt cx="427693" cy="195574"/>
          </a:xfrm>
        </p:grpSpPr>
        <p:sp>
          <p:nvSpPr>
            <p:cNvPr name="Freeform 26" id="26"/>
            <p:cNvSpPr/>
            <p:nvPr/>
          </p:nvSpPr>
          <p:spPr>
            <a:xfrm flipH="false" flipV="false" rot="0">
              <a:off x="0" y="0"/>
              <a:ext cx="427693" cy="195574"/>
            </a:xfrm>
            <a:custGeom>
              <a:avLst/>
              <a:gdLst/>
              <a:ahLst/>
              <a:cxnLst/>
              <a:rect r="r" b="b" t="t" l="l"/>
              <a:pathLst>
                <a:path h="195574" w="427693">
                  <a:moveTo>
                    <a:pt x="97787" y="0"/>
                  </a:moveTo>
                  <a:lnTo>
                    <a:pt x="329906" y="0"/>
                  </a:lnTo>
                  <a:cubicBezTo>
                    <a:pt x="355841" y="0"/>
                    <a:pt x="380713" y="10303"/>
                    <a:pt x="399052" y="28641"/>
                  </a:cubicBezTo>
                  <a:cubicBezTo>
                    <a:pt x="417390" y="46980"/>
                    <a:pt x="427693" y="71852"/>
                    <a:pt x="427693" y="97787"/>
                  </a:cubicBezTo>
                  <a:lnTo>
                    <a:pt x="427693" y="97787"/>
                  </a:lnTo>
                  <a:cubicBezTo>
                    <a:pt x="427693" y="123722"/>
                    <a:pt x="417390" y="148594"/>
                    <a:pt x="399052" y="166933"/>
                  </a:cubicBezTo>
                  <a:cubicBezTo>
                    <a:pt x="380713" y="185271"/>
                    <a:pt x="355841" y="195574"/>
                    <a:pt x="329906" y="195574"/>
                  </a:cubicBezTo>
                  <a:lnTo>
                    <a:pt x="97787" y="195574"/>
                  </a:lnTo>
                  <a:cubicBezTo>
                    <a:pt x="71852" y="195574"/>
                    <a:pt x="46980" y="185271"/>
                    <a:pt x="28641" y="166933"/>
                  </a:cubicBezTo>
                  <a:cubicBezTo>
                    <a:pt x="10303" y="148594"/>
                    <a:pt x="0" y="123722"/>
                    <a:pt x="0" y="97787"/>
                  </a:cubicBezTo>
                  <a:lnTo>
                    <a:pt x="0" y="97787"/>
                  </a:lnTo>
                  <a:cubicBezTo>
                    <a:pt x="0" y="71852"/>
                    <a:pt x="10303" y="46980"/>
                    <a:pt x="28641" y="28641"/>
                  </a:cubicBezTo>
                  <a:cubicBezTo>
                    <a:pt x="46980" y="10303"/>
                    <a:pt x="71852" y="0"/>
                    <a:pt x="97787" y="0"/>
                  </a:cubicBezTo>
                  <a:close/>
                </a:path>
              </a:pathLst>
            </a:custGeom>
            <a:solidFill>
              <a:srgbClr val="718BAB"/>
            </a:solidFill>
            <a:ln cap="rnd">
              <a:noFill/>
              <a:prstDash val="solid"/>
              <a:round/>
            </a:ln>
          </p:spPr>
        </p:sp>
        <p:sp>
          <p:nvSpPr>
            <p:cNvPr name="TextBox 27" id="27"/>
            <p:cNvSpPr txBox="true"/>
            <p:nvPr/>
          </p:nvSpPr>
          <p:spPr>
            <a:xfrm>
              <a:off x="0" y="-57150"/>
              <a:ext cx="427693" cy="252724"/>
            </a:xfrm>
            <a:prstGeom prst="rect">
              <a:avLst/>
            </a:prstGeom>
          </p:spPr>
          <p:txBody>
            <a:bodyPr anchor="ctr" rtlCol="false" tIns="254000" lIns="254000" bIns="254000" rIns="254000"/>
            <a:lstStyle/>
            <a:p>
              <a:pPr algn="ctr">
                <a:lnSpc>
                  <a:spcPts val="2800"/>
                </a:lnSpc>
              </a:pPr>
              <a:r>
                <a:rPr lang="en-US" sz="2000">
                  <a:solidFill>
                    <a:srgbClr val="2A2E3A"/>
                  </a:solidFill>
                  <a:latin typeface="Helios Bold"/>
                  <a:ea typeface="Helios Bold"/>
                  <a:cs typeface="Helios Bold"/>
                  <a:sym typeface="Helios Bold"/>
                </a:rPr>
                <a:t>Raw Data</a:t>
              </a:r>
            </a:p>
          </p:txBody>
        </p:sp>
      </p:grpSp>
      <p:sp>
        <p:nvSpPr>
          <p:cNvPr name="AutoShape 28" id="28"/>
          <p:cNvSpPr/>
          <p:nvPr/>
        </p:nvSpPr>
        <p:spPr>
          <a:xfrm>
            <a:off x="10550791" y="2545924"/>
            <a:ext cx="1263769" cy="1333119"/>
          </a:xfrm>
          <a:prstGeom prst="line">
            <a:avLst/>
          </a:prstGeom>
          <a:ln cap="flat" w="19050">
            <a:solidFill>
              <a:srgbClr val="2A2E3A"/>
            </a:solidFill>
            <a:prstDash val="lgDash"/>
            <a:headEnd type="none" len="sm" w="sm"/>
            <a:tailEnd type="arrow" len="sm" w="med"/>
          </a:ln>
        </p:spPr>
      </p:sp>
      <p:grpSp>
        <p:nvGrpSpPr>
          <p:cNvPr name="Group 29" id="29"/>
          <p:cNvGrpSpPr/>
          <p:nvPr/>
        </p:nvGrpSpPr>
        <p:grpSpPr>
          <a:xfrm rot="0">
            <a:off x="-160377" y="4881658"/>
            <a:ext cx="811000" cy="1558014"/>
            <a:chOff x="0" y="0"/>
            <a:chExt cx="213597" cy="410341"/>
          </a:xfrm>
        </p:grpSpPr>
        <p:sp>
          <p:nvSpPr>
            <p:cNvPr name="Freeform 30" id="30"/>
            <p:cNvSpPr/>
            <p:nvPr/>
          </p:nvSpPr>
          <p:spPr>
            <a:xfrm flipH="false" flipV="false" rot="0">
              <a:off x="0" y="0"/>
              <a:ext cx="213597" cy="410341"/>
            </a:xfrm>
            <a:custGeom>
              <a:avLst/>
              <a:gdLst/>
              <a:ahLst/>
              <a:cxnLst/>
              <a:rect r="r" b="b" t="t" l="l"/>
              <a:pathLst>
                <a:path h="410341" w="213597">
                  <a:moveTo>
                    <a:pt x="0" y="0"/>
                  </a:moveTo>
                  <a:lnTo>
                    <a:pt x="213597" y="0"/>
                  </a:lnTo>
                  <a:lnTo>
                    <a:pt x="213597" y="410341"/>
                  </a:lnTo>
                  <a:lnTo>
                    <a:pt x="0" y="410341"/>
                  </a:lnTo>
                  <a:close/>
                </a:path>
              </a:pathLst>
            </a:custGeom>
            <a:solidFill>
              <a:srgbClr val="F4F4F4"/>
            </a:solidFill>
          </p:spPr>
        </p:sp>
        <p:sp>
          <p:nvSpPr>
            <p:cNvPr name="TextBox 31" id="31"/>
            <p:cNvSpPr txBox="true"/>
            <p:nvPr/>
          </p:nvSpPr>
          <p:spPr>
            <a:xfrm>
              <a:off x="0" y="-38100"/>
              <a:ext cx="213597" cy="448441"/>
            </a:xfrm>
            <a:prstGeom prst="rect">
              <a:avLst/>
            </a:prstGeom>
          </p:spPr>
          <p:txBody>
            <a:bodyPr anchor="ctr" rtlCol="false" tIns="50800" lIns="50800" bIns="50800" rIns="50800"/>
            <a:lstStyle/>
            <a:p>
              <a:pPr algn="ctr">
                <a:lnSpc>
                  <a:spcPts val="2100"/>
                </a:lnSpc>
              </a:pPr>
            </a:p>
          </p:txBody>
        </p:sp>
      </p:grpSp>
      <p:sp>
        <p:nvSpPr>
          <p:cNvPr name="TextBox 32" id="32"/>
          <p:cNvSpPr txBox="true"/>
          <p:nvPr/>
        </p:nvSpPr>
        <p:spPr>
          <a:xfrm rot="0">
            <a:off x="1633971" y="7077799"/>
            <a:ext cx="6139776" cy="571500"/>
          </a:xfrm>
          <a:prstGeom prst="rect">
            <a:avLst/>
          </a:prstGeom>
        </p:spPr>
        <p:txBody>
          <a:bodyPr anchor="t" rtlCol="false" tIns="0" lIns="0" bIns="0" rIns="0">
            <a:spAutoFit/>
          </a:bodyPr>
          <a:lstStyle/>
          <a:p>
            <a:pPr algn="l" marL="0" indent="0" lvl="0">
              <a:lnSpc>
                <a:spcPts val="4559"/>
              </a:lnSpc>
              <a:spcBef>
                <a:spcPct val="0"/>
              </a:spcBef>
            </a:pPr>
            <a:r>
              <a:rPr lang="en-US" sz="3799">
                <a:solidFill>
                  <a:srgbClr val="718BAB"/>
                </a:solidFill>
                <a:latin typeface="Klein Bold"/>
                <a:ea typeface="Klein Bold"/>
                <a:cs typeface="Klein Bold"/>
                <a:sym typeface="Klein Bold"/>
              </a:rPr>
              <a:t>Pre-processing data</a:t>
            </a:r>
          </a:p>
        </p:txBody>
      </p:sp>
      <p:sp>
        <p:nvSpPr>
          <p:cNvPr name="TextBox 33" id="33"/>
          <p:cNvSpPr txBox="true"/>
          <p:nvPr/>
        </p:nvSpPr>
        <p:spPr>
          <a:xfrm rot="0">
            <a:off x="1921872" y="7667524"/>
            <a:ext cx="16366128" cy="1298575"/>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2A2E3A"/>
                </a:solidFill>
                <a:latin typeface="Helios"/>
                <a:ea typeface="Helios"/>
                <a:cs typeface="Helios"/>
                <a:sym typeface="Helios"/>
              </a:rPr>
              <a:t>Here we have converted json file to pdf format (unstructure format). In this step we are only deal with table name, table description, column name and column description.This pdf is intermediate data on which we trained LLM model. The thing is we can also give json to model directly but for more accuracy we did this step.  </a:t>
            </a:r>
          </a:p>
        </p:txBody>
      </p:sp>
      <p:sp>
        <p:nvSpPr>
          <p:cNvPr name="TextBox 34" id="34"/>
          <p:cNvSpPr txBox="true"/>
          <p:nvPr/>
        </p:nvSpPr>
        <p:spPr>
          <a:xfrm rot="0">
            <a:off x="1662546" y="5143589"/>
            <a:ext cx="15239612" cy="571500"/>
          </a:xfrm>
          <a:prstGeom prst="rect">
            <a:avLst/>
          </a:prstGeom>
        </p:spPr>
        <p:txBody>
          <a:bodyPr anchor="t" rtlCol="false" tIns="0" lIns="0" bIns="0" rIns="0">
            <a:spAutoFit/>
          </a:bodyPr>
          <a:lstStyle/>
          <a:p>
            <a:pPr algn="l" marL="0" indent="0" lvl="0">
              <a:lnSpc>
                <a:spcPts val="4559"/>
              </a:lnSpc>
              <a:spcBef>
                <a:spcPct val="0"/>
              </a:spcBef>
            </a:pPr>
            <a:r>
              <a:rPr lang="en-US" sz="3799">
                <a:solidFill>
                  <a:srgbClr val="718BAB"/>
                </a:solidFill>
                <a:latin typeface="Klein Bold"/>
                <a:ea typeface="Klein Bold"/>
                <a:cs typeface="Klein Bold"/>
                <a:sym typeface="Klein Bold"/>
              </a:rPr>
              <a:t>Detail About Input Data</a:t>
            </a:r>
          </a:p>
        </p:txBody>
      </p:sp>
      <p:sp>
        <p:nvSpPr>
          <p:cNvPr name="TextBox 35" id="35"/>
          <p:cNvSpPr txBox="true"/>
          <p:nvPr/>
        </p:nvSpPr>
        <p:spPr>
          <a:xfrm rot="0">
            <a:off x="1895863" y="5685244"/>
            <a:ext cx="15239612" cy="860425"/>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2A2E3A"/>
                </a:solidFill>
                <a:latin typeface="Helios"/>
                <a:ea typeface="Helios"/>
                <a:cs typeface="Helios"/>
                <a:sym typeface="Helios"/>
              </a:rPr>
              <a:t>Basically, input data is a json file which is consist of 10 tables (products, sales, employee, customer,... ) with their description along with column names, column description and raw data related to that table. </a:t>
            </a:r>
          </a:p>
        </p:txBody>
      </p:sp>
      <p:sp>
        <p:nvSpPr>
          <p:cNvPr name="TextBox 36" id="36"/>
          <p:cNvSpPr txBox="true"/>
          <p:nvPr/>
        </p:nvSpPr>
        <p:spPr>
          <a:xfrm rot="0">
            <a:off x="1028700" y="935405"/>
            <a:ext cx="4182092" cy="1952772"/>
          </a:xfrm>
          <a:prstGeom prst="rect">
            <a:avLst/>
          </a:prstGeom>
        </p:spPr>
        <p:txBody>
          <a:bodyPr anchor="t" rtlCol="false" tIns="0" lIns="0" bIns="0" rIns="0">
            <a:spAutoFit/>
          </a:bodyPr>
          <a:lstStyle/>
          <a:p>
            <a:pPr algn="l">
              <a:lnSpc>
                <a:spcPts val="7744"/>
              </a:lnSpc>
            </a:pPr>
            <a:r>
              <a:rPr lang="en-US" sz="5957">
                <a:solidFill>
                  <a:srgbClr val="2A2E3A"/>
                </a:solidFill>
                <a:latin typeface="Klein Bold"/>
                <a:ea typeface="Klein Bold"/>
                <a:cs typeface="Klein Bold"/>
                <a:sym typeface="Klein Bold"/>
              </a:rPr>
              <a:t>Input Data </a:t>
            </a:r>
            <a:r>
              <a:rPr lang="en-US" sz="5957">
                <a:solidFill>
                  <a:srgbClr val="718BAB"/>
                </a:solidFill>
                <a:latin typeface="Klein Bold"/>
                <a:ea typeface="Klein Bold"/>
                <a:cs typeface="Klein Bold"/>
                <a:sym typeface="Klein Bold"/>
              </a:rPr>
              <a:t>Structure</a:t>
            </a:r>
          </a:p>
        </p:txBody>
      </p:sp>
      <p:sp>
        <p:nvSpPr>
          <p:cNvPr name="TextBox 37" id="37"/>
          <p:cNvSpPr txBox="true"/>
          <p:nvPr/>
        </p:nvSpPr>
        <p:spPr>
          <a:xfrm rot="0">
            <a:off x="1085850" y="2997392"/>
            <a:ext cx="6997988" cy="860425"/>
          </a:xfrm>
          <a:prstGeom prst="rect">
            <a:avLst/>
          </a:prstGeom>
        </p:spPr>
        <p:txBody>
          <a:bodyPr anchor="t" rtlCol="false" tIns="0" lIns="0" bIns="0" rIns="0">
            <a:spAutoFit/>
          </a:bodyPr>
          <a:lstStyle/>
          <a:p>
            <a:pPr algn="l">
              <a:lnSpc>
                <a:spcPts val="3499"/>
              </a:lnSpc>
            </a:pPr>
            <a:r>
              <a:rPr lang="en-US" sz="2499">
                <a:solidFill>
                  <a:srgbClr val="2A2E3A"/>
                </a:solidFill>
                <a:latin typeface="Helios"/>
                <a:ea typeface="Helios"/>
                <a:cs typeface="Helios"/>
                <a:sym typeface="Helios"/>
              </a:rPr>
              <a:t>In this we talk about the structure of input json file and need for data pre-processing.</a:t>
            </a:r>
            <a:r>
              <a:rPr lang="en-US" sz="2499">
                <a:solidFill>
                  <a:srgbClr val="2A2E3A"/>
                </a:solidFill>
                <a:latin typeface="Helios"/>
                <a:ea typeface="Helios"/>
                <a:cs typeface="Helios"/>
                <a:sym typeface="Helios"/>
              </a:rPr>
              <a:t> </a:t>
            </a:r>
          </a:p>
        </p:txBody>
      </p:sp>
      <p:sp>
        <p:nvSpPr>
          <p:cNvPr name="Freeform 38" id="38"/>
          <p:cNvSpPr/>
          <p:nvPr/>
        </p:nvSpPr>
        <p:spPr>
          <a:xfrm flipH="false" flipV="false" rot="0">
            <a:off x="-64187" y="7009042"/>
            <a:ext cx="1357604" cy="1357604"/>
          </a:xfrm>
          <a:custGeom>
            <a:avLst/>
            <a:gdLst/>
            <a:ahLst/>
            <a:cxnLst/>
            <a:rect r="r" b="b" t="t" l="l"/>
            <a:pathLst>
              <a:path h="1357604" w="1357604">
                <a:moveTo>
                  <a:pt x="0" y="0"/>
                </a:moveTo>
                <a:lnTo>
                  <a:pt x="1357604" y="0"/>
                </a:lnTo>
                <a:lnTo>
                  <a:pt x="1357604" y="1357603"/>
                </a:lnTo>
                <a:lnTo>
                  <a:pt x="0" y="1357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9" id="39"/>
          <p:cNvGrpSpPr/>
          <p:nvPr/>
        </p:nvGrpSpPr>
        <p:grpSpPr>
          <a:xfrm rot="0">
            <a:off x="-141014" y="6801623"/>
            <a:ext cx="811000" cy="1558014"/>
            <a:chOff x="0" y="0"/>
            <a:chExt cx="213597" cy="410341"/>
          </a:xfrm>
        </p:grpSpPr>
        <p:sp>
          <p:nvSpPr>
            <p:cNvPr name="Freeform 40" id="40"/>
            <p:cNvSpPr/>
            <p:nvPr/>
          </p:nvSpPr>
          <p:spPr>
            <a:xfrm flipH="false" flipV="false" rot="0">
              <a:off x="0" y="0"/>
              <a:ext cx="213597" cy="410341"/>
            </a:xfrm>
            <a:custGeom>
              <a:avLst/>
              <a:gdLst/>
              <a:ahLst/>
              <a:cxnLst/>
              <a:rect r="r" b="b" t="t" l="l"/>
              <a:pathLst>
                <a:path h="410341" w="213597">
                  <a:moveTo>
                    <a:pt x="0" y="0"/>
                  </a:moveTo>
                  <a:lnTo>
                    <a:pt x="213597" y="0"/>
                  </a:lnTo>
                  <a:lnTo>
                    <a:pt x="213597" y="410341"/>
                  </a:lnTo>
                  <a:lnTo>
                    <a:pt x="0" y="410341"/>
                  </a:lnTo>
                  <a:close/>
                </a:path>
              </a:pathLst>
            </a:custGeom>
            <a:solidFill>
              <a:srgbClr val="F4F4F4"/>
            </a:solidFill>
          </p:spPr>
        </p:sp>
        <p:sp>
          <p:nvSpPr>
            <p:cNvPr name="TextBox 41" id="41"/>
            <p:cNvSpPr txBox="true"/>
            <p:nvPr/>
          </p:nvSpPr>
          <p:spPr>
            <a:xfrm>
              <a:off x="0" y="-38100"/>
              <a:ext cx="213597" cy="448441"/>
            </a:xfrm>
            <a:prstGeom prst="rect">
              <a:avLst/>
            </a:prstGeom>
          </p:spPr>
          <p:txBody>
            <a:bodyPr anchor="ctr" rtlCol="false" tIns="50800" lIns="50800" bIns="50800" rIns="50800"/>
            <a:lstStyle/>
            <a:p>
              <a:pPr algn="ctr">
                <a:lnSpc>
                  <a:spcPts val="2100"/>
                </a:lnSpc>
              </a:pPr>
            </a:p>
          </p:txBody>
        </p:sp>
      </p:grpSp>
      <p:sp>
        <p:nvSpPr>
          <p:cNvPr name="TextBox 42" id="42"/>
          <p:cNvSpPr txBox="true"/>
          <p:nvPr/>
        </p:nvSpPr>
        <p:spPr>
          <a:xfrm rot="0">
            <a:off x="10284361" y="9663808"/>
            <a:ext cx="7692164" cy="422275"/>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718BAB"/>
                </a:solidFill>
                <a:latin typeface="Helios Bold"/>
                <a:ea typeface="Helios Bold"/>
                <a:cs typeface="Helios Bold"/>
                <a:sym typeface="Helios Bold"/>
              </a:rPr>
              <a:t>For getting more idea about data set refer this </a:t>
            </a:r>
            <a:r>
              <a:rPr lang="en-US" sz="2499">
                <a:solidFill>
                  <a:srgbClr val="153969"/>
                </a:solidFill>
                <a:latin typeface="Helios Bold"/>
                <a:ea typeface="Helios Bold"/>
                <a:cs typeface="Helios Bold"/>
                <a:sym typeface="Helios Bold"/>
                <a:hlinkClick r:id="rId4" tooltip="https://github.com/Sahilkom/Intern_project/blob/main/all_tables_data.json"/>
              </a:rPr>
              <a:t>link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53969"/>
        </a:solidFill>
      </p:bgPr>
    </p:bg>
    <p:spTree>
      <p:nvGrpSpPr>
        <p:cNvPr id="1" name=""/>
        <p:cNvGrpSpPr/>
        <p:nvPr/>
      </p:nvGrpSpPr>
      <p:grpSpPr>
        <a:xfrm>
          <a:off x="0" y="0"/>
          <a:ext cx="0" cy="0"/>
          <a:chOff x="0" y="0"/>
          <a:chExt cx="0" cy="0"/>
        </a:xfrm>
      </p:grpSpPr>
      <p:grpSp>
        <p:nvGrpSpPr>
          <p:cNvPr name="Group 2" id="2"/>
          <p:cNvGrpSpPr/>
          <p:nvPr/>
        </p:nvGrpSpPr>
        <p:grpSpPr>
          <a:xfrm rot="0">
            <a:off x="9525" y="0"/>
            <a:ext cx="18288000" cy="2896814"/>
            <a:chOff x="0" y="0"/>
            <a:chExt cx="24384000" cy="3862419"/>
          </a:xfrm>
        </p:grpSpPr>
        <p:pic>
          <p:nvPicPr>
            <p:cNvPr name="Picture 3" id="3"/>
            <p:cNvPicPr>
              <a:picLocks noChangeAspect="true"/>
            </p:cNvPicPr>
            <p:nvPr/>
          </p:nvPicPr>
          <p:blipFill>
            <a:blip r:embed="rId2">
              <a:alphaModFix amt="14000"/>
            </a:blip>
            <a:srcRect l="0" t="31529" r="0" b="44695"/>
            <a:stretch>
              <a:fillRect/>
            </a:stretch>
          </p:blipFill>
          <p:spPr>
            <a:xfrm flipH="false" flipV="false">
              <a:off x="0" y="0"/>
              <a:ext cx="24384000" cy="3862419"/>
            </a:xfrm>
            <a:prstGeom prst="rect">
              <a:avLst/>
            </a:prstGeom>
          </p:spPr>
        </p:pic>
      </p:grpSp>
      <p:grpSp>
        <p:nvGrpSpPr>
          <p:cNvPr name="Group 4" id="4"/>
          <p:cNvGrpSpPr/>
          <p:nvPr/>
        </p:nvGrpSpPr>
        <p:grpSpPr>
          <a:xfrm rot="0">
            <a:off x="0" y="2032842"/>
            <a:ext cx="18288000" cy="8263683"/>
            <a:chOff x="0" y="0"/>
            <a:chExt cx="4816593" cy="2176443"/>
          </a:xfrm>
        </p:grpSpPr>
        <p:sp>
          <p:nvSpPr>
            <p:cNvPr name="Freeform 5" id="5"/>
            <p:cNvSpPr/>
            <p:nvPr/>
          </p:nvSpPr>
          <p:spPr>
            <a:xfrm flipH="false" flipV="false" rot="0">
              <a:off x="0" y="0"/>
              <a:ext cx="4816592" cy="2176443"/>
            </a:xfrm>
            <a:custGeom>
              <a:avLst/>
              <a:gdLst/>
              <a:ahLst/>
              <a:cxnLst/>
              <a:rect r="r" b="b" t="t" l="l"/>
              <a:pathLst>
                <a:path h="2176443" w="4816592">
                  <a:moveTo>
                    <a:pt x="0" y="0"/>
                  </a:moveTo>
                  <a:lnTo>
                    <a:pt x="4816592" y="0"/>
                  </a:lnTo>
                  <a:lnTo>
                    <a:pt x="4816592" y="2176443"/>
                  </a:lnTo>
                  <a:lnTo>
                    <a:pt x="0" y="2176443"/>
                  </a:lnTo>
                  <a:close/>
                </a:path>
              </a:pathLst>
            </a:custGeom>
            <a:solidFill>
              <a:srgbClr val="FFFFFF"/>
            </a:solidFill>
          </p:spPr>
        </p:sp>
        <p:sp>
          <p:nvSpPr>
            <p:cNvPr name="TextBox 6" id="6"/>
            <p:cNvSpPr txBox="true"/>
            <p:nvPr/>
          </p:nvSpPr>
          <p:spPr>
            <a:xfrm>
              <a:off x="0" y="-57150"/>
              <a:ext cx="4816593" cy="2233593"/>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8333203" y="-1109791"/>
            <a:ext cx="1621594" cy="1621594"/>
          </a:xfrm>
          <a:custGeom>
            <a:avLst/>
            <a:gdLst/>
            <a:ahLst/>
            <a:cxnLst/>
            <a:rect r="r" b="b" t="t" l="l"/>
            <a:pathLst>
              <a:path h="1621594" w="1621594">
                <a:moveTo>
                  <a:pt x="0" y="0"/>
                </a:moveTo>
                <a:lnTo>
                  <a:pt x="1621594" y="0"/>
                </a:lnTo>
                <a:lnTo>
                  <a:pt x="1621594" y="1621594"/>
                </a:lnTo>
                <a:lnTo>
                  <a:pt x="0" y="16215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8333203" y="9678747"/>
            <a:ext cx="1621594" cy="1621594"/>
          </a:xfrm>
          <a:custGeom>
            <a:avLst/>
            <a:gdLst/>
            <a:ahLst/>
            <a:cxnLst/>
            <a:rect r="r" b="b" t="t" l="l"/>
            <a:pathLst>
              <a:path h="1621594" w="1621594">
                <a:moveTo>
                  <a:pt x="0" y="0"/>
                </a:moveTo>
                <a:lnTo>
                  <a:pt x="1621594" y="0"/>
                </a:lnTo>
                <a:lnTo>
                  <a:pt x="1621594" y="1621594"/>
                </a:lnTo>
                <a:lnTo>
                  <a:pt x="0" y="16215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6459568" y="2377893"/>
            <a:ext cx="1501195" cy="1154456"/>
            <a:chOff x="0" y="0"/>
            <a:chExt cx="395376" cy="304054"/>
          </a:xfrm>
        </p:grpSpPr>
        <p:sp>
          <p:nvSpPr>
            <p:cNvPr name="Freeform 10" id="10"/>
            <p:cNvSpPr/>
            <p:nvPr/>
          </p:nvSpPr>
          <p:spPr>
            <a:xfrm flipH="false" flipV="false" rot="0">
              <a:off x="0" y="0"/>
              <a:ext cx="395376" cy="304054"/>
            </a:xfrm>
            <a:custGeom>
              <a:avLst/>
              <a:gdLst/>
              <a:ahLst/>
              <a:cxnLst/>
              <a:rect r="r" b="b" t="t" l="l"/>
              <a:pathLst>
                <a:path h="304054" w="395376">
                  <a:moveTo>
                    <a:pt x="152027" y="0"/>
                  </a:moveTo>
                  <a:lnTo>
                    <a:pt x="243349" y="0"/>
                  </a:lnTo>
                  <a:cubicBezTo>
                    <a:pt x="327312" y="0"/>
                    <a:pt x="395376" y="68065"/>
                    <a:pt x="395376" y="152027"/>
                  </a:cubicBezTo>
                  <a:lnTo>
                    <a:pt x="395376" y="152027"/>
                  </a:lnTo>
                  <a:cubicBezTo>
                    <a:pt x="395376" y="235989"/>
                    <a:pt x="327312" y="304054"/>
                    <a:pt x="243349" y="304054"/>
                  </a:cubicBezTo>
                  <a:lnTo>
                    <a:pt x="152027" y="304054"/>
                  </a:lnTo>
                  <a:cubicBezTo>
                    <a:pt x="68065" y="304054"/>
                    <a:pt x="0" y="235989"/>
                    <a:pt x="0" y="152027"/>
                  </a:cubicBezTo>
                  <a:lnTo>
                    <a:pt x="0" y="152027"/>
                  </a:lnTo>
                  <a:cubicBezTo>
                    <a:pt x="0" y="68065"/>
                    <a:pt x="68065" y="0"/>
                    <a:pt x="152027" y="0"/>
                  </a:cubicBezTo>
                  <a:close/>
                </a:path>
              </a:pathLst>
            </a:custGeom>
            <a:solidFill>
              <a:srgbClr val="C0CFE1"/>
            </a:solidFill>
            <a:ln cap="rnd">
              <a:noFill/>
              <a:prstDash val="solid"/>
              <a:round/>
            </a:ln>
          </p:spPr>
        </p:sp>
        <p:sp>
          <p:nvSpPr>
            <p:cNvPr name="TextBox 11" id="11"/>
            <p:cNvSpPr txBox="true"/>
            <p:nvPr/>
          </p:nvSpPr>
          <p:spPr>
            <a:xfrm>
              <a:off x="0" y="-38100"/>
              <a:ext cx="395376" cy="342154"/>
            </a:xfrm>
            <a:prstGeom prst="rect">
              <a:avLst/>
            </a:prstGeom>
          </p:spPr>
          <p:txBody>
            <a:bodyPr anchor="ctr" rtlCol="false" tIns="254000" lIns="254000" bIns="254000" rIns="254000"/>
            <a:lstStyle/>
            <a:p>
              <a:pPr algn="ctr">
                <a:lnSpc>
                  <a:spcPts val="2100"/>
                </a:lnSpc>
              </a:pPr>
            </a:p>
          </p:txBody>
        </p:sp>
      </p:grpSp>
      <p:grpSp>
        <p:nvGrpSpPr>
          <p:cNvPr name="Group 12" id="12"/>
          <p:cNvGrpSpPr/>
          <p:nvPr/>
        </p:nvGrpSpPr>
        <p:grpSpPr>
          <a:xfrm rot="0">
            <a:off x="12499653" y="5538010"/>
            <a:ext cx="1645127" cy="1094994"/>
            <a:chOff x="0" y="0"/>
            <a:chExt cx="433284" cy="288393"/>
          </a:xfrm>
        </p:grpSpPr>
        <p:sp>
          <p:nvSpPr>
            <p:cNvPr name="Freeform 13" id="13"/>
            <p:cNvSpPr/>
            <p:nvPr/>
          </p:nvSpPr>
          <p:spPr>
            <a:xfrm flipH="false" flipV="false" rot="0">
              <a:off x="0" y="0"/>
              <a:ext cx="433284" cy="288393"/>
            </a:xfrm>
            <a:custGeom>
              <a:avLst/>
              <a:gdLst/>
              <a:ahLst/>
              <a:cxnLst/>
              <a:rect r="r" b="b" t="t" l="l"/>
              <a:pathLst>
                <a:path h="288393" w="433284">
                  <a:moveTo>
                    <a:pt x="141179" y="0"/>
                  </a:moveTo>
                  <a:lnTo>
                    <a:pt x="292105" y="0"/>
                  </a:lnTo>
                  <a:cubicBezTo>
                    <a:pt x="370076" y="0"/>
                    <a:pt x="433284" y="63208"/>
                    <a:pt x="433284" y="141179"/>
                  </a:cubicBezTo>
                  <a:lnTo>
                    <a:pt x="433284" y="147214"/>
                  </a:lnTo>
                  <a:cubicBezTo>
                    <a:pt x="433284" y="225185"/>
                    <a:pt x="370076" y="288393"/>
                    <a:pt x="292105" y="288393"/>
                  </a:cubicBezTo>
                  <a:lnTo>
                    <a:pt x="141179" y="288393"/>
                  </a:lnTo>
                  <a:cubicBezTo>
                    <a:pt x="63208" y="288393"/>
                    <a:pt x="0" y="225185"/>
                    <a:pt x="0" y="147214"/>
                  </a:cubicBezTo>
                  <a:lnTo>
                    <a:pt x="0" y="141179"/>
                  </a:lnTo>
                  <a:cubicBezTo>
                    <a:pt x="0" y="63208"/>
                    <a:pt x="63208" y="0"/>
                    <a:pt x="141179" y="0"/>
                  </a:cubicBezTo>
                  <a:close/>
                </a:path>
              </a:pathLst>
            </a:custGeom>
            <a:solidFill>
              <a:srgbClr val="C0CFE1"/>
            </a:solidFill>
            <a:ln cap="rnd">
              <a:noFill/>
              <a:prstDash val="solid"/>
              <a:round/>
            </a:ln>
          </p:spPr>
        </p:sp>
        <p:sp>
          <p:nvSpPr>
            <p:cNvPr name="TextBox 14" id="14"/>
            <p:cNvSpPr txBox="true"/>
            <p:nvPr/>
          </p:nvSpPr>
          <p:spPr>
            <a:xfrm>
              <a:off x="0" y="-57150"/>
              <a:ext cx="433284" cy="345543"/>
            </a:xfrm>
            <a:prstGeom prst="rect">
              <a:avLst/>
            </a:prstGeom>
          </p:spPr>
          <p:txBody>
            <a:bodyPr anchor="ctr" rtlCol="false" tIns="254000" lIns="254000" bIns="254000" rIns="254000"/>
            <a:lstStyle/>
            <a:p>
              <a:pPr algn="ctr">
                <a:lnSpc>
                  <a:spcPts val="2800"/>
                </a:lnSpc>
              </a:pPr>
              <a:r>
                <a:rPr lang="en-US" sz="2000">
                  <a:solidFill>
                    <a:srgbClr val="2A2E3A"/>
                  </a:solidFill>
                  <a:latin typeface="Helios Bold"/>
                  <a:ea typeface="Helios Bold"/>
                  <a:cs typeface="Helios Bold"/>
                  <a:sym typeface="Helios Bold"/>
                </a:rPr>
                <a:t>Semantic Search</a:t>
              </a:r>
            </a:p>
          </p:txBody>
        </p:sp>
      </p:grpSp>
      <p:grpSp>
        <p:nvGrpSpPr>
          <p:cNvPr name="Group 15" id="15"/>
          <p:cNvGrpSpPr/>
          <p:nvPr/>
        </p:nvGrpSpPr>
        <p:grpSpPr>
          <a:xfrm rot="0">
            <a:off x="14697230" y="3532349"/>
            <a:ext cx="1263462" cy="654558"/>
            <a:chOff x="0" y="0"/>
            <a:chExt cx="332764" cy="172394"/>
          </a:xfrm>
        </p:grpSpPr>
        <p:sp>
          <p:nvSpPr>
            <p:cNvPr name="Freeform 16" id="16"/>
            <p:cNvSpPr/>
            <p:nvPr/>
          </p:nvSpPr>
          <p:spPr>
            <a:xfrm flipH="false" flipV="false" rot="0">
              <a:off x="0" y="0"/>
              <a:ext cx="332764" cy="172394"/>
            </a:xfrm>
            <a:custGeom>
              <a:avLst/>
              <a:gdLst/>
              <a:ahLst/>
              <a:cxnLst/>
              <a:rect r="r" b="b" t="t" l="l"/>
              <a:pathLst>
                <a:path h="172394" w="332764">
                  <a:moveTo>
                    <a:pt x="86197" y="0"/>
                  </a:moveTo>
                  <a:lnTo>
                    <a:pt x="246567" y="0"/>
                  </a:lnTo>
                  <a:cubicBezTo>
                    <a:pt x="294172" y="0"/>
                    <a:pt x="332764" y="38592"/>
                    <a:pt x="332764" y="86197"/>
                  </a:cubicBezTo>
                  <a:lnTo>
                    <a:pt x="332764" y="86197"/>
                  </a:lnTo>
                  <a:cubicBezTo>
                    <a:pt x="332764" y="133802"/>
                    <a:pt x="294172" y="172394"/>
                    <a:pt x="246567" y="172394"/>
                  </a:cubicBezTo>
                  <a:lnTo>
                    <a:pt x="86197" y="172394"/>
                  </a:lnTo>
                  <a:cubicBezTo>
                    <a:pt x="38592" y="172394"/>
                    <a:pt x="0" y="133802"/>
                    <a:pt x="0" y="86197"/>
                  </a:cubicBezTo>
                  <a:lnTo>
                    <a:pt x="0" y="86197"/>
                  </a:lnTo>
                  <a:cubicBezTo>
                    <a:pt x="0" y="38592"/>
                    <a:pt x="38592" y="0"/>
                    <a:pt x="86197" y="0"/>
                  </a:cubicBezTo>
                  <a:close/>
                </a:path>
              </a:pathLst>
            </a:custGeom>
            <a:solidFill>
              <a:srgbClr val="F4F4F4"/>
            </a:solidFill>
            <a:ln cap="rnd">
              <a:noFill/>
              <a:prstDash val="solid"/>
              <a:round/>
            </a:ln>
          </p:spPr>
        </p:sp>
        <p:sp>
          <p:nvSpPr>
            <p:cNvPr name="TextBox 17" id="17"/>
            <p:cNvSpPr txBox="true"/>
            <p:nvPr/>
          </p:nvSpPr>
          <p:spPr>
            <a:xfrm>
              <a:off x="0" y="-38100"/>
              <a:ext cx="332764" cy="210494"/>
            </a:xfrm>
            <a:prstGeom prst="rect">
              <a:avLst/>
            </a:prstGeom>
          </p:spPr>
          <p:txBody>
            <a:bodyPr anchor="ctr" rtlCol="false" tIns="254000" lIns="254000" bIns="254000" rIns="254000"/>
            <a:lstStyle/>
            <a:p>
              <a:pPr algn="ctr">
                <a:lnSpc>
                  <a:spcPts val="2100"/>
                </a:lnSpc>
              </a:pPr>
              <a:r>
                <a:rPr lang="en-US" sz="1500">
                  <a:solidFill>
                    <a:srgbClr val="2A2E3A"/>
                  </a:solidFill>
                  <a:latin typeface="Helios Bold"/>
                  <a:ea typeface="Helios Bold"/>
                  <a:cs typeface="Helios Bold"/>
                  <a:sym typeface="Helios Bold"/>
                </a:rPr>
                <a:t>Question</a:t>
              </a:r>
            </a:p>
          </p:txBody>
        </p:sp>
      </p:grpSp>
      <p:grpSp>
        <p:nvGrpSpPr>
          <p:cNvPr name="Group 18" id="18"/>
          <p:cNvGrpSpPr/>
          <p:nvPr/>
        </p:nvGrpSpPr>
        <p:grpSpPr>
          <a:xfrm rot="0">
            <a:off x="199894" y="5797113"/>
            <a:ext cx="1320104" cy="921258"/>
            <a:chOff x="0" y="0"/>
            <a:chExt cx="347682" cy="242636"/>
          </a:xfrm>
        </p:grpSpPr>
        <p:sp>
          <p:nvSpPr>
            <p:cNvPr name="Freeform 19" id="19"/>
            <p:cNvSpPr/>
            <p:nvPr/>
          </p:nvSpPr>
          <p:spPr>
            <a:xfrm flipH="false" flipV="false" rot="0">
              <a:off x="0" y="0"/>
              <a:ext cx="347682" cy="242636"/>
            </a:xfrm>
            <a:custGeom>
              <a:avLst/>
              <a:gdLst/>
              <a:ahLst/>
              <a:cxnLst/>
              <a:rect r="r" b="b" t="t" l="l"/>
              <a:pathLst>
                <a:path h="242636" w="347682">
                  <a:moveTo>
                    <a:pt x="121318" y="0"/>
                  </a:moveTo>
                  <a:lnTo>
                    <a:pt x="226364" y="0"/>
                  </a:lnTo>
                  <a:cubicBezTo>
                    <a:pt x="258539" y="0"/>
                    <a:pt x="289397" y="12782"/>
                    <a:pt x="312149" y="35533"/>
                  </a:cubicBezTo>
                  <a:cubicBezTo>
                    <a:pt x="334900" y="58285"/>
                    <a:pt x="347682" y="89142"/>
                    <a:pt x="347682" y="121318"/>
                  </a:cubicBezTo>
                  <a:lnTo>
                    <a:pt x="347682" y="121318"/>
                  </a:lnTo>
                  <a:cubicBezTo>
                    <a:pt x="347682" y="188320"/>
                    <a:pt x="293366" y="242636"/>
                    <a:pt x="226364" y="242636"/>
                  </a:cubicBezTo>
                  <a:lnTo>
                    <a:pt x="121318" y="242636"/>
                  </a:lnTo>
                  <a:cubicBezTo>
                    <a:pt x="54316" y="242636"/>
                    <a:pt x="0" y="188320"/>
                    <a:pt x="0" y="121318"/>
                  </a:cubicBezTo>
                  <a:lnTo>
                    <a:pt x="0" y="121318"/>
                  </a:lnTo>
                  <a:cubicBezTo>
                    <a:pt x="0" y="54316"/>
                    <a:pt x="54316" y="0"/>
                    <a:pt x="121318" y="0"/>
                  </a:cubicBezTo>
                  <a:close/>
                </a:path>
              </a:pathLst>
            </a:custGeom>
            <a:solidFill>
              <a:srgbClr val="718BAB"/>
            </a:solidFill>
            <a:ln cap="rnd">
              <a:noFill/>
              <a:prstDash val="solid"/>
              <a:round/>
            </a:ln>
          </p:spPr>
        </p:sp>
        <p:sp>
          <p:nvSpPr>
            <p:cNvPr name="TextBox 20" id="20"/>
            <p:cNvSpPr txBox="true"/>
            <p:nvPr/>
          </p:nvSpPr>
          <p:spPr>
            <a:xfrm>
              <a:off x="0" y="-38100"/>
              <a:ext cx="347682" cy="280736"/>
            </a:xfrm>
            <a:prstGeom prst="rect">
              <a:avLst/>
            </a:prstGeom>
          </p:spPr>
          <p:txBody>
            <a:bodyPr anchor="ctr" rtlCol="false" tIns="254000" lIns="254000" bIns="254000" rIns="254000"/>
            <a:lstStyle/>
            <a:p>
              <a:pPr algn="ctr">
                <a:lnSpc>
                  <a:spcPts val="2100"/>
                </a:lnSpc>
              </a:pPr>
              <a:r>
                <a:rPr lang="en-US" sz="1500">
                  <a:solidFill>
                    <a:srgbClr val="2A2E3A"/>
                  </a:solidFill>
                  <a:latin typeface="Helios Bold"/>
                  <a:ea typeface="Helios Bold"/>
                  <a:cs typeface="Helios Bold"/>
                  <a:sym typeface="Helios Bold"/>
                </a:rPr>
                <a:t>Input Json File </a:t>
              </a:r>
            </a:p>
          </p:txBody>
        </p:sp>
      </p:grpSp>
      <p:grpSp>
        <p:nvGrpSpPr>
          <p:cNvPr name="Group 21" id="21"/>
          <p:cNvGrpSpPr/>
          <p:nvPr/>
        </p:nvGrpSpPr>
        <p:grpSpPr>
          <a:xfrm rot="0">
            <a:off x="1815273" y="5654897"/>
            <a:ext cx="2059013" cy="1205691"/>
            <a:chOff x="0" y="0"/>
            <a:chExt cx="542292" cy="317548"/>
          </a:xfrm>
        </p:grpSpPr>
        <p:sp>
          <p:nvSpPr>
            <p:cNvPr name="Freeform 22" id="22"/>
            <p:cNvSpPr/>
            <p:nvPr/>
          </p:nvSpPr>
          <p:spPr>
            <a:xfrm flipH="false" flipV="false" rot="0">
              <a:off x="0" y="0"/>
              <a:ext cx="542292" cy="317548"/>
            </a:xfrm>
            <a:custGeom>
              <a:avLst/>
              <a:gdLst/>
              <a:ahLst/>
              <a:cxnLst/>
              <a:rect r="r" b="b" t="t" l="l"/>
              <a:pathLst>
                <a:path h="317548" w="542292">
                  <a:moveTo>
                    <a:pt x="112800" y="0"/>
                  </a:moveTo>
                  <a:lnTo>
                    <a:pt x="429491" y="0"/>
                  </a:lnTo>
                  <a:cubicBezTo>
                    <a:pt x="459408" y="0"/>
                    <a:pt x="488099" y="11884"/>
                    <a:pt x="509253" y="33038"/>
                  </a:cubicBezTo>
                  <a:cubicBezTo>
                    <a:pt x="530407" y="54193"/>
                    <a:pt x="542292" y="82884"/>
                    <a:pt x="542292" y="112800"/>
                  </a:cubicBezTo>
                  <a:lnTo>
                    <a:pt x="542292" y="204748"/>
                  </a:lnTo>
                  <a:cubicBezTo>
                    <a:pt x="542292" y="267046"/>
                    <a:pt x="491789" y="317548"/>
                    <a:pt x="429491" y="317548"/>
                  </a:cubicBezTo>
                  <a:lnTo>
                    <a:pt x="112800" y="317548"/>
                  </a:lnTo>
                  <a:cubicBezTo>
                    <a:pt x="82884" y="317548"/>
                    <a:pt x="54193" y="305664"/>
                    <a:pt x="33038" y="284510"/>
                  </a:cubicBezTo>
                  <a:cubicBezTo>
                    <a:pt x="11884" y="263356"/>
                    <a:pt x="0" y="234664"/>
                    <a:pt x="0" y="204748"/>
                  </a:cubicBezTo>
                  <a:lnTo>
                    <a:pt x="0" y="112800"/>
                  </a:lnTo>
                  <a:cubicBezTo>
                    <a:pt x="0" y="50502"/>
                    <a:pt x="50502" y="0"/>
                    <a:pt x="112800" y="0"/>
                  </a:cubicBezTo>
                  <a:close/>
                </a:path>
              </a:pathLst>
            </a:custGeom>
            <a:solidFill>
              <a:srgbClr val="C0CFE1"/>
            </a:solidFill>
            <a:ln cap="rnd">
              <a:noFill/>
              <a:prstDash val="solid"/>
              <a:round/>
            </a:ln>
          </p:spPr>
        </p:sp>
        <p:sp>
          <p:nvSpPr>
            <p:cNvPr name="TextBox 23" id="23"/>
            <p:cNvSpPr txBox="true"/>
            <p:nvPr/>
          </p:nvSpPr>
          <p:spPr>
            <a:xfrm>
              <a:off x="0" y="-38100"/>
              <a:ext cx="542292" cy="355648"/>
            </a:xfrm>
            <a:prstGeom prst="rect">
              <a:avLst/>
            </a:prstGeom>
          </p:spPr>
          <p:txBody>
            <a:bodyPr anchor="ctr" rtlCol="false" tIns="254000" lIns="254000" bIns="254000" rIns="254000"/>
            <a:lstStyle/>
            <a:p>
              <a:pPr algn="ctr">
                <a:lnSpc>
                  <a:spcPts val="2100"/>
                </a:lnSpc>
              </a:pPr>
              <a:r>
                <a:rPr lang="en-US" sz="1500">
                  <a:solidFill>
                    <a:srgbClr val="2A2E3A"/>
                  </a:solidFill>
                  <a:latin typeface="Helios Bold"/>
                  <a:ea typeface="Helios Bold"/>
                  <a:cs typeface="Helios Bold"/>
                  <a:sym typeface="Helios Bold"/>
                </a:rPr>
                <a:t>pre-processing and conversion to pdf document </a:t>
              </a:r>
            </a:p>
          </p:txBody>
        </p:sp>
      </p:grpSp>
      <p:grpSp>
        <p:nvGrpSpPr>
          <p:cNvPr name="Group 24" id="24"/>
          <p:cNvGrpSpPr/>
          <p:nvPr/>
        </p:nvGrpSpPr>
        <p:grpSpPr>
          <a:xfrm rot="0">
            <a:off x="4169562" y="5801216"/>
            <a:ext cx="1464036" cy="921258"/>
            <a:chOff x="0" y="0"/>
            <a:chExt cx="385590" cy="242636"/>
          </a:xfrm>
        </p:grpSpPr>
        <p:sp>
          <p:nvSpPr>
            <p:cNvPr name="Freeform 25" id="25"/>
            <p:cNvSpPr/>
            <p:nvPr/>
          </p:nvSpPr>
          <p:spPr>
            <a:xfrm flipH="false" flipV="false" rot="0">
              <a:off x="0" y="0"/>
              <a:ext cx="385590" cy="242636"/>
            </a:xfrm>
            <a:custGeom>
              <a:avLst/>
              <a:gdLst/>
              <a:ahLst/>
              <a:cxnLst/>
              <a:rect r="r" b="b" t="t" l="l"/>
              <a:pathLst>
                <a:path h="242636" w="385590">
                  <a:moveTo>
                    <a:pt x="121318" y="0"/>
                  </a:moveTo>
                  <a:lnTo>
                    <a:pt x="264272" y="0"/>
                  </a:lnTo>
                  <a:cubicBezTo>
                    <a:pt x="296447" y="0"/>
                    <a:pt x="327305" y="12782"/>
                    <a:pt x="350057" y="35533"/>
                  </a:cubicBezTo>
                  <a:cubicBezTo>
                    <a:pt x="372808" y="58285"/>
                    <a:pt x="385590" y="89142"/>
                    <a:pt x="385590" y="121318"/>
                  </a:cubicBezTo>
                  <a:lnTo>
                    <a:pt x="385590" y="121318"/>
                  </a:lnTo>
                  <a:cubicBezTo>
                    <a:pt x="385590" y="188320"/>
                    <a:pt x="331274" y="242636"/>
                    <a:pt x="264272" y="242636"/>
                  </a:cubicBezTo>
                  <a:lnTo>
                    <a:pt x="121318" y="242636"/>
                  </a:lnTo>
                  <a:cubicBezTo>
                    <a:pt x="54316" y="242636"/>
                    <a:pt x="0" y="188320"/>
                    <a:pt x="0" y="121318"/>
                  </a:cubicBezTo>
                  <a:lnTo>
                    <a:pt x="0" y="121318"/>
                  </a:lnTo>
                  <a:cubicBezTo>
                    <a:pt x="0" y="54316"/>
                    <a:pt x="54316" y="0"/>
                    <a:pt x="121318" y="0"/>
                  </a:cubicBezTo>
                  <a:close/>
                </a:path>
              </a:pathLst>
            </a:custGeom>
            <a:solidFill>
              <a:srgbClr val="718BAB"/>
            </a:solidFill>
            <a:ln cap="rnd">
              <a:noFill/>
              <a:prstDash val="solid"/>
              <a:round/>
            </a:ln>
          </p:spPr>
        </p:sp>
        <p:sp>
          <p:nvSpPr>
            <p:cNvPr name="TextBox 26" id="26"/>
            <p:cNvSpPr txBox="true"/>
            <p:nvPr/>
          </p:nvSpPr>
          <p:spPr>
            <a:xfrm>
              <a:off x="0" y="-38100"/>
              <a:ext cx="385590" cy="280736"/>
            </a:xfrm>
            <a:prstGeom prst="rect">
              <a:avLst/>
            </a:prstGeom>
          </p:spPr>
          <p:txBody>
            <a:bodyPr anchor="ctr" rtlCol="false" tIns="254000" lIns="254000" bIns="254000" rIns="254000"/>
            <a:lstStyle/>
            <a:p>
              <a:pPr algn="ctr">
                <a:lnSpc>
                  <a:spcPts val="2100"/>
                </a:lnSpc>
              </a:pPr>
              <a:r>
                <a:rPr lang="en-US" sz="1500">
                  <a:solidFill>
                    <a:srgbClr val="2A2E3A"/>
                  </a:solidFill>
                  <a:latin typeface="Helios Bold"/>
                  <a:ea typeface="Helios Bold"/>
                  <a:cs typeface="Helios Bold"/>
                  <a:sym typeface="Helios Bold"/>
                </a:rPr>
                <a:t>Vector Embedding</a:t>
              </a:r>
            </a:p>
          </p:txBody>
        </p:sp>
      </p:grpSp>
      <p:grpSp>
        <p:nvGrpSpPr>
          <p:cNvPr name="Group 27" id="27"/>
          <p:cNvGrpSpPr/>
          <p:nvPr/>
        </p:nvGrpSpPr>
        <p:grpSpPr>
          <a:xfrm rot="0">
            <a:off x="5921975" y="5449168"/>
            <a:ext cx="1856439" cy="1451619"/>
            <a:chOff x="0" y="0"/>
            <a:chExt cx="488939" cy="382319"/>
          </a:xfrm>
        </p:grpSpPr>
        <p:sp>
          <p:nvSpPr>
            <p:cNvPr name="Freeform 28" id="28"/>
            <p:cNvSpPr/>
            <p:nvPr/>
          </p:nvSpPr>
          <p:spPr>
            <a:xfrm flipH="false" flipV="false" rot="0">
              <a:off x="0" y="0"/>
              <a:ext cx="488939" cy="382319"/>
            </a:xfrm>
            <a:custGeom>
              <a:avLst/>
              <a:gdLst/>
              <a:ahLst/>
              <a:cxnLst/>
              <a:rect r="r" b="b" t="t" l="l"/>
              <a:pathLst>
                <a:path h="382319" w="488939">
                  <a:moveTo>
                    <a:pt x="125109" y="0"/>
                  </a:moveTo>
                  <a:lnTo>
                    <a:pt x="363830" y="0"/>
                  </a:lnTo>
                  <a:cubicBezTo>
                    <a:pt x="397011" y="0"/>
                    <a:pt x="428833" y="13181"/>
                    <a:pt x="452295" y="36644"/>
                  </a:cubicBezTo>
                  <a:cubicBezTo>
                    <a:pt x="475758" y="60106"/>
                    <a:pt x="488939" y="91928"/>
                    <a:pt x="488939" y="125109"/>
                  </a:cubicBezTo>
                  <a:lnTo>
                    <a:pt x="488939" y="257210"/>
                  </a:lnTo>
                  <a:cubicBezTo>
                    <a:pt x="488939" y="326306"/>
                    <a:pt x="432925" y="382319"/>
                    <a:pt x="363830" y="382319"/>
                  </a:cubicBezTo>
                  <a:lnTo>
                    <a:pt x="125109" y="382319"/>
                  </a:lnTo>
                  <a:cubicBezTo>
                    <a:pt x="56013" y="382319"/>
                    <a:pt x="0" y="326306"/>
                    <a:pt x="0" y="257210"/>
                  </a:cubicBezTo>
                  <a:lnTo>
                    <a:pt x="0" y="125109"/>
                  </a:lnTo>
                  <a:cubicBezTo>
                    <a:pt x="0" y="56013"/>
                    <a:pt x="56013" y="0"/>
                    <a:pt x="125109" y="0"/>
                  </a:cubicBezTo>
                  <a:close/>
                </a:path>
              </a:pathLst>
            </a:custGeom>
            <a:solidFill>
              <a:srgbClr val="153969"/>
            </a:solidFill>
            <a:ln cap="rnd">
              <a:noFill/>
              <a:prstDash val="solid"/>
              <a:round/>
            </a:ln>
          </p:spPr>
        </p:sp>
        <p:sp>
          <p:nvSpPr>
            <p:cNvPr name="TextBox 29" id="29"/>
            <p:cNvSpPr txBox="true"/>
            <p:nvPr/>
          </p:nvSpPr>
          <p:spPr>
            <a:xfrm>
              <a:off x="0" y="-38100"/>
              <a:ext cx="488939" cy="420419"/>
            </a:xfrm>
            <a:prstGeom prst="rect">
              <a:avLst/>
            </a:prstGeom>
          </p:spPr>
          <p:txBody>
            <a:bodyPr anchor="ctr" rtlCol="false" tIns="254000" lIns="254000" bIns="254000" rIns="254000"/>
            <a:lstStyle/>
            <a:p>
              <a:pPr algn="ctr">
                <a:lnSpc>
                  <a:spcPts val="2100"/>
                </a:lnSpc>
              </a:pPr>
            </a:p>
          </p:txBody>
        </p:sp>
      </p:grpSp>
      <p:sp>
        <p:nvSpPr>
          <p:cNvPr name="Freeform 30" id="30"/>
          <p:cNvSpPr/>
          <p:nvPr/>
        </p:nvSpPr>
        <p:spPr>
          <a:xfrm flipH="false" flipV="false" rot="0">
            <a:off x="6153113" y="5605147"/>
            <a:ext cx="574812" cy="1084584"/>
          </a:xfrm>
          <a:custGeom>
            <a:avLst/>
            <a:gdLst/>
            <a:ahLst/>
            <a:cxnLst/>
            <a:rect r="r" b="b" t="t" l="l"/>
            <a:pathLst>
              <a:path h="1084584" w="574812">
                <a:moveTo>
                  <a:pt x="0" y="0"/>
                </a:moveTo>
                <a:lnTo>
                  <a:pt x="574812" y="0"/>
                </a:lnTo>
                <a:lnTo>
                  <a:pt x="574812" y="1084584"/>
                </a:lnTo>
                <a:lnTo>
                  <a:pt x="0" y="108458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1" id="31"/>
          <p:cNvSpPr/>
          <p:nvPr/>
        </p:nvSpPr>
        <p:spPr>
          <a:xfrm flipH="false" flipV="false" rot="0">
            <a:off x="10471805" y="5449168"/>
            <a:ext cx="1532548" cy="2891689"/>
          </a:xfrm>
          <a:custGeom>
            <a:avLst/>
            <a:gdLst/>
            <a:ahLst/>
            <a:cxnLst/>
            <a:rect r="r" b="b" t="t" l="l"/>
            <a:pathLst>
              <a:path h="2891689" w="1532548">
                <a:moveTo>
                  <a:pt x="0" y="0"/>
                </a:moveTo>
                <a:lnTo>
                  <a:pt x="1532548" y="0"/>
                </a:lnTo>
                <a:lnTo>
                  <a:pt x="1532548" y="2891689"/>
                </a:lnTo>
                <a:lnTo>
                  <a:pt x="0" y="28916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2" id="32"/>
          <p:cNvGrpSpPr/>
          <p:nvPr/>
        </p:nvGrpSpPr>
        <p:grpSpPr>
          <a:xfrm rot="0">
            <a:off x="6341075" y="7793360"/>
            <a:ext cx="1856439" cy="1094994"/>
            <a:chOff x="0" y="0"/>
            <a:chExt cx="488939" cy="288393"/>
          </a:xfrm>
        </p:grpSpPr>
        <p:sp>
          <p:nvSpPr>
            <p:cNvPr name="Freeform 33" id="33"/>
            <p:cNvSpPr/>
            <p:nvPr/>
          </p:nvSpPr>
          <p:spPr>
            <a:xfrm flipH="false" flipV="false" rot="0">
              <a:off x="0" y="0"/>
              <a:ext cx="488939" cy="288393"/>
            </a:xfrm>
            <a:custGeom>
              <a:avLst/>
              <a:gdLst/>
              <a:ahLst/>
              <a:cxnLst/>
              <a:rect r="r" b="b" t="t" l="l"/>
              <a:pathLst>
                <a:path h="288393" w="488939">
                  <a:moveTo>
                    <a:pt x="125109" y="0"/>
                  </a:moveTo>
                  <a:lnTo>
                    <a:pt x="363830" y="0"/>
                  </a:lnTo>
                  <a:cubicBezTo>
                    <a:pt x="397011" y="0"/>
                    <a:pt x="428833" y="13181"/>
                    <a:pt x="452295" y="36644"/>
                  </a:cubicBezTo>
                  <a:cubicBezTo>
                    <a:pt x="475758" y="60106"/>
                    <a:pt x="488939" y="91928"/>
                    <a:pt x="488939" y="125109"/>
                  </a:cubicBezTo>
                  <a:lnTo>
                    <a:pt x="488939" y="163284"/>
                  </a:lnTo>
                  <a:cubicBezTo>
                    <a:pt x="488939" y="232380"/>
                    <a:pt x="432925" y="288393"/>
                    <a:pt x="363830" y="288393"/>
                  </a:cubicBezTo>
                  <a:lnTo>
                    <a:pt x="125109" y="288393"/>
                  </a:lnTo>
                  <a:cubicBezTo>
                    <a:pt x="56013" y="288393"/>
                    <a:pt x="0" y="232380"/>
                    <a:pt x="0" y="163284"/>
                  </a:cubicBezTo>
                  <a:lnTo>
                    <a:pt x="0" y="125109"/>
                  </a:lnTo>
                  <a:cubicBezTo>
                    <a:pt x="0" y="56013"/>
                    <a:pt x="56013" y="0"/>
                    <a:pt x="125109" y="0"/>
                  </a:cubicBezTo>
                  <a:close/>
                </a:path>
              </a:pathLst>
            </a:custGeom>
            <a:solidFill>
              <a:srgbClr val="153969"/>
            </a:solidFill>
            <a:ln cap="rnd">
              <a:noFill/>
              <a:prstDash val="solid"/>
              <a:round/>
            </a:ln>
          </p:spPr>
        </p:sp>
        <p:sp>
          <p:nvSpPr>
            <p:cNvPr name="TextBox 34" id="34"/>
            <p:cNvSpPr txBox="true"/>
            <p:nvPr/>
          </p:nvSpPr>
          <p:spPr>
            <a:xfrm>
              <a:off x="0" y="-57150"/>
              <a:ext cx="488939" cy="345543"/>
            </a:xfrm>
            <a:prstGeom prst="rect">
              <a:avLst/>
            </a:prstGeom>
          </p:spPr>
          <p:txBody>
            <a:bodyPr anchor="ctr" rtlCol="false" tIns="254000" lIns="254000" bIns="254000" rIns="254000"/>
            <a:lstStyle/>
            <a:p>
              <a:pPr algn="ctr">
                <a:lnSpc>
                  <a:spcPts val="2800"/>
                </a:lnSpc>
              </a:pPr>
              <a:r>
                <a:rPr lang="en-US" sz="2000">
                  <a:solidFill>
                    <a:srgbClr val="FFFFFF"/>
                  </a:solidFill>
                  <a:latin typeface="Helios Bold"/>
                  <a:ea typeface="Helios Bold"/>
                  <a:cs typeface="Helios Bold"/>
                  <a:sym typeface="Helios Bold"/>
                </a:rPr>
                <a:t>Keyword Search</a:t>
              </a:r>
            </a:p>
          </p:txBody>
        </p:sp>
      </p:grpSp>
      <p:grpSp>
        <p:nvGrpSpPr>
          <p:cNvPr name="Group 35" id="35"/>
          <p:cNvGrpSpPr/>
          <p:nvPr/>
        </p:nvGrpSpPr>
        <p:grpSpPr>
          <a:xfrm rot="0">
            <a:off x="8197514" y="5720929"/>
            <a:ext cx="1645641" cy="1094994"/>
            <a:chOff x="0" y="0"/>
            <a:chExt cx="433420" cy="288393"/>
          </a:xfrm>
        </p:grpSpPr>
        <p:sp>
          <p:nvSpPr>
            <p:cNvPr name="Freeform 36" id="36"/>
            <p:cNvSpPr/>
            <p:nvPr/>
          </p:nvSpPr>
          <p:spPr>
            <a:xfrm flipH="false" flipV="false" rot="0">
              <a:off x="0" y="0"/>
              <a:ext cx="433420" cy="288393"/>
            </a:xfrm>
            <a:custGeom>
              <a:avLst/>
              <a:gdLst/>
              <a:ahLst/>
              <a:cxnLst/>
              <a:rect r="r" b="b" t="t" l="l"/>
              <a:pathLst>
                <a:path h="288393" w="433420">
                  <a:moveTo>
                    <a:pt x="141135" y="0"/>
                  </a:moveTo>
                  <a:lnTo>
                    <a:pt x="292285" y="0"/>
                  </a:lnTo>
                  <a:cubicBezTo>
                    <a:pt x="329716" y="0"/>
                    <a:pt x="365614" y="14870"/>
                    <a:pt x="392082" y="41337"/>
                  </a:cubicBezTo>
                  <a:cubicBezTo>
                    <a:pt x="418550" y="67805"/>
                    <a:pt x="433420" y="103704"/>
                    <a:pt x="433420" y="141135"/>
                  </a:cubicBezTo>
                  <a:lnTo>
                    <a:pt x="433420" y="147258"/>
                  </a:lnTo>
                  <a:cubicBezTo>
                    <a:pt x="433420" y="184690"/>
                    <a:pt x="418550" y="220588"/>
                    <a:pt x="392082" y="247056"/>
                  </a:cubicBezTo>
                  <a:cubicBezTo>
                    <a:pt x="365614" y="273524"/>
                    <a:pt x="329716" y="288393"/>
                    <a:pt x="292285" y="288393"/>
                  </a:cubicBezTo>
                  <a:lnTo>
                    <a:pt x="141135" y="288393"/>
                  </a:lnTo>
                  <a:cubicBezTo>
                    <a:pt x="63188" y="288393"/>
                    <a:pt x="0" y="225205"/>
                    <a:pt x="0" y="147258"/>
                  </a:cubicBezTo>
                  <a:lnTo>
                    <a:pt x="0" y="141135"/>
                  </a:lnTo>
                  <a:cubicBezTo>
                    <a:pt x="0" y="63188"/>
                    <a:pt x="63188" y="0"/>
                    <a:pt x="141135" y="0"/>
                  </a:cubicBezTo>
                  <a:close/>
                </a:path>
              </a:pathLst>
            </a:custGeom>
            <a:solidFill>
              <a:srgbClr val="718BAB"/>
            </a:solidFill>
            <a:ln cap="rnd">
              <a:noFill/>
              <a:prstDash val="solid"/>
              <a:round/>
            </a:ln>
          </p:spPr>
        </p:sp>
        <p:sp>
          <p:nvSpPr>
            <p:cNvPr name="TextBox 37" id="37"/>
            <p:cNvSpPr txBox="true"/>
            <p:nvPr/>
          </p:nvSpPr>
          <p:spPr>
            <a:xfrm>
              <a:off x="0" y="-57150"/>
              <a:ext cx="433420" cy="345543"/>
            </a:xfrm>
            <a:prstGeom prst="rect">
              <a:avLst/>
            </a:prstGeom>
          </p:spPr>
          <p:txBody>
            <a:bodyPr anchor="ctr" rtlCol="false" tIns="254000" lIns="254000" bIns="254000" rIns="254000"/>
            <a:lstStyle/>
            <a:p>
              <a:pPr algn="ctr">
                <a:lnSpc>
                  <a:spcPts val="2800"/>
                </a:lnSpc>
              </a:pPr>
              <a:r>
                <a:rPr lang="en-US" sz="2000">
                  <a:solidFill>
                    <a:srgbClr val="2A2E3A"/>
                  </a:solidFill>
                  <a:latin typeface="Helios Bold"/>
                  <a:ea typeface="Helios Bold"/>
                  <a:cs typeface="Helios Bold"/>
                  <a:sym typeface="Helios Bold"/>
                </a:rPr>
                <a:t>Ensemble Retreiver</a:t>
              </a:r>
            </a:p>
          </p:txBody>
        </p:sp>
      </p:grpSp>
      <p:sp>
        <p:nvSpPr>
          <p:cNvPr name="Freeform 38" id="38"/>
          <p:cNvSpPr/>
          <p:nvPr/>
        </p:nvSpPr>
        <p:spPr>
          <a:xfrm flipH="false" flipV="false" rot="0">
            <a:off x="16625977" y="2466155"/>
            <a:ext cx="1168376" cy="715630"/>
          </a:xfrm>
          <a:custGeom>
            <a:avLst/>
            <a:gdLst/>
            <a:ahLst/>
            <a:cxnLst/>
            <a:rect r="r" b="b" t="t" l="l"/>
            <a:pathLst>
              <a:path h="715630" w="1168376">
                <a:moveTo>
                  <a:pt x="0" y="0"/>
                </a:moveTo>
                <a:lnTo>
                  <a:pt x="1168376" y="0"/>
                </a:lnTo>
                <a:lnTo>
                  <a:pt x="1168376" y="715630"/>
                </a:lnTo>
                <a:lnTo>
                  <a:pt x="0" y="7156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9" id="39"/>
          <p:cNvSpPr txBox="true"/>
          <p:nvPr/>
        </p:nvSpPr>
        <p:spPr>
          <a:xfrm rot="0">
            <a:off x="6823175" y="5712880"/>
            <a:ext cx="955239" cy="1066800"/>
          </a:xfrm>
          <a:prstGeom prst="rect">
            <a:avLst/>
          </a:prstGeom>
        </p:spPr>
        <p:txBody>
          <a:bodyPr anchor="t" rtlCol="false" tIns="0" lIns="0" bIns="0" rIns="0">
            <a:spAutoFit/>
          </a:bodyPr>
          <a:lstStyle/>
          <a:p>
            <a:pPr algn="l">
              <a:lnSpc>
                <a:spcPts val="2100"/>
              </a:lnSpc>
            </a:pPr>
            <a:r>
              <a:rPr lang="en-US" sz="1500">
                <a:solidFill>
                  <a:srgbClr val="FFFFFF"/>
                </a:solidFill>
                <a:latin typeface="Helios Bold"/>
                <a:ea typeface="Helios Bold"/>
                <a:cs typeface="Helios Bold"/>
                <a:sym typeface="Helios Bold"/>
              </a:rPr>
              <a:t>Build semantic</a:t>
            </a:r>
          </a:p>
          <a:p>
            <a:pPr algn="l">
              <a:lnSpc>
                <a:spcPts val="2100"/>
              </a:lnSpc>
            </a:pPr>
            <a:r>
              <a:rPr lang="en-US" sz="1500">
                <a:solidFill>
                  <a:srgbClr val="FFFFFF"/>
                </a:solidFill>
                <a:latin typeface="Helios Bold"/>
                <a:ea typeface="Helios Bold"/>
                <a:cs typeface="Helios Bold"/>
                <a:sym typeface="Helios Bold"/>
              </a:rPr>
              <a:t>index</a:t>
            </a:r>
          </a:p>
          <a:p>
            <a:pPr algn="l">
              <a:lnSpc>
                <a:spcPts val="2100"/>
              </a:lnSpc>
            </a:pPr>
          </a:p>
        </p:txBody>
      </p:sp>
      <p:sp>
        <p:nvSpPr>
          <p:cNvPr name="TextBox 40" id="40"/>
          <p:cNvSpPr txBox="true"/>
          <p:nvPr/>
        </p:nvSpPr>
        <p:spPr>
          <a:xfrm rot="0">
            <a:off x="10462280" y="6656026"/>
            <a:ext cx="1532548" cy="711200"/>
          </a:xfrm>
          <a:prstGeom prst="rect">
            <a:avLst/>
          </a:prstGeom>
        </p:spPr>
        <p:txBody>
          <a:bodyPr anchor="t" rtlCol="false" tIns="0" lIns="0" bIns="0" rIns="0">
            <a:spAutoFit/>
          </a:bodyPr>
          <a:lstStyle/>
          <a:p>
            <a:pPr algn="ctr">
              <a:lnSpc>
                <a:spcPts val="2800"/>
              </a:lnSpc>
            </a:pPr>
            <a:r>
              <a:rPr lang="en-US" sz="2000">
                <a:solidFill>
                  <a:srgbClr val="2A2E3A"/>
                </a:solidFill>
                <a:latin typeface="Helios Bold"/>
                <a:ea typeface="Helios Bold"/>
                <a:cs typeface="Helios Bold"/>
                <a:sym typeface="Helios Bold"/>
              </a:rPr>
              <a:t>Knowledge</a:t>
            </a:r>
          </a:p>
          <a:p>
            <a:pPr algn="ctr">
              <a:lnSpc>
                <a:spcPts val="2800"/>
              </a:lnSpc>
            </a:pPr>
            <a:r>
              <a:rPr lang="en-US" sz="2000">
                <a:solidFill>
                  <a:srgbClr val="2A2E3A"/>
                </a:solidFill>
                <a:latin typeface="Helios Bold"/>
                <a:ea typeface="Helios Bold"/>
                <a:cs typeface="Helios Bold"/>
                <a:sym typeface="Helios Bold"/>
              </a:rPr>
              <a:t>Base</a:t>
            </a:r>
          </a:p>
        </p:txBody>
      </p:sp>
      <p:grpSp>
        <p:nvGrpSpPr>
          <p:cNvPr name="Group 41" id="41"/>
          <p:cNvGrpSpPr/>
          <p:nvPr/>
        </p:nvGrpSpPr>
        <p:grpSpPr>
          <a:xfrm rot="0">
            <a:off x="12454750" y="4199070"/>
            <a:ext cx="1690030" cy="944430"/>
            <a:chOff x="0" y="0"/>
            <a:chExt cx="445111" cy="248739"/>
          </a:xfrm>
        </p:grpSpPr>
        <p:sp>
          <p:nvSpPr>
            <p:cNvPr name="Freeform 42" id="42"/>
            <p:cNvSpPr/>
            <p:nvPr/>
          </p:nvSpPr>
          <p:spPr>
            <a:xfrm flipH="false" flipV="false" rot="0">
              <a:off x="0" y="0"/>
              <a:ext cx="445111" cy="248739"/>
            </a:xfrm>
            <a:custGeom>
              <a:avLst/>
              <a:gdLst/>
              <a:ahLst/>
              <a:cxnLst/>
              <a:rect r="r" b="b" t="t" l="l"/>
              <a:pathLst>
                <a:path h="248739" w="445111">
                  <a:moveTo>
                    <a:pt x="124369" y="0"/>
                  </a:moveTo>
                  <a:lnTo>
                    <a:pt x="320741" y="0"/>
                  </a:lnTo>
                  <a:cubicBezTo>
                    <a:pt x="389429" y="0"/>
                    <a:pt x="445111" y="55682"/>
                    <a:pt x="445111" y="124369"/>
                  </a:cubicBezTo>
                  <a:lnTo>
                    <a:pt x="445111" y="124369"/>
                  </a:lnTo>
                  <a:cubicBezTo>
                    <a:pt x="445111" y="157354"/>
                    <a:pt x="432008" y="188988"/>
                    <a:pt x="408684" y="212312"/>
                  </a:cubicBezTo>
                  <a:cubicBezTo>
                    <a:pt x="385360" y="235636"/>
                    <a:pt x="353726" y="248739"/>
                    <a:pt x="320741" y="248739"/>
                  </a:cubicBezTo>
                  <a:lnTo>
                    <a:pt x="124369" y="248739"/>
                  </a:lnTo>
                  <a:cubicBezTo>
                    <a:pt x="55682" y="248739"/>
                    <a:pt x="0" y="193057"/>
                    <a:pt x="0" y="124369"/>
                  </a:cubicBezTo>
                  <a:lnTo>
                    <a:pt x="0" y="124369"/>
                  </a:lnTo>
                  <a:cubicBezTo>
                    <a:pt x="0" y="55682"/>
                    <a:pt x="55682" y="0"/>
                    <a:pt x="124369" y="0"/>
                  </a:cubicBezTo>
                  <a:close/>
                </a:path>
              </a:pathLst>
            </a:custGeom>
            <a:solidFill>
              <a:srgbClr val="153969"/>
            </a:solidFill>
            <a:ln cap="rnd">
              <a:noFill/>
              <a:prstDash val="solid"/>
              <a:round/>
            </a:ln>
          </p:spPr>
        </p:sp>
        <p:sp>
          <p:nvSpPr>
            <p:cNvPr name="TextBox 43" id="43"/>
            <p:cNvSpPr txBox="true"/>
            <p:nvPr/>
          </p:nvSpPr>
          <p:spPr>
            <a:xfrm>
              <a:off x="0" y="-38100"/>
              <a:ext cx="445111" cy="286839"/>
            </a:xfrm>
            <a:prstGeom prst="rect">
              <a:avLst/>
            </a:prstGeom>
          </p:spPr>
          <p:txBody>
            <a:bodyPr anchor="ctr" rtlCol="false" tIns="254000" lIns="254000" bIns="254000" rIns="254000"/>
            <a:lstStyle/>
            <a:p>
              <a:pPr algn="ctr">
                <a:lnSpc>
                  <a:spcPts val="2100"/>
                </a:lnSpc>
              </a:pPr>
              <a:r>
                <a:rPr lang="en-US" sz="1500">
                  <a:solidFill>
                    <a:srgbClr val="FFFFFF"/>
                  </a:solidFill>
                  <a:latin typeface="Helios Bold"/>
                  <a:ea typeface="Helios Bold"/>
                  <a:cs typeface="Helios Bold"/>
                  <a:sym typeface="Helios Bold"/>
                </a:rPr>
                <a:t>Compute Embeddings</a:t>
              </a:r>
            </a:p>
          </p:txBody>
        </p:sp>
      </p:grpSp>
      <p:grpSp>
        <p:nvGrpSpPr>
          <p:cNvPr name="Group 44" id="44"/>
          <p:cNvGrpSpPr/>
          <p:nvPr/>
        </p:nvGrpSpPr>
        <p:grpSpPr>
          <a:xfrm rot="0">
            <a:off x="16529775" y="6174977"/>
            <a:ext cx="1332354" cy="742569"/>
            <a:chOff x="0" y="0"/>
            <a:chExt cx="350908" cy="195574"/>
          </a:xfrm>
        </p:grpSpPr>
        <p:sp>
          <p:nvSpPr>
            <p:cNvPr name="Freeform 45" id="45"/>
            <p:cNvSpPr/>
            <p:nvPr/>
          </p:nvSpPr>
          <p:spPr>
            <a:xfrm flipH="false" flipV="false" rot="0">
              <a:off x="0" y="0"/>
              <a:ext cx="350908" cy="195574"/>
            </a:xfrm>
            <a:custGeom>
              <a:avLst/>
              <a:gdLst/>
              <a:ahLst/>
              <a:cxnLst/>
              <a:rect r="r" b="b" t="t" l="l"/>
              <a:pathLst>
                <a:path h="195574" w="350908">
                  <a:moveTo>
                    <a:pt x="97787" y="0"/>
                  </a:moveTo>
                  <a:lnTo>
                    <a:pt x="253121" y="0"/>
                  </a:lnTo>
                  <a:cubicBezTo>
                    <a:pt x="279056" y="0"/>
                    <a:pt x="303928" y="10303"/>
                    <a:pt x="322267" y="28641"/>
                  </a:cubicBezTo>
                  <a:cubicBezTo>
                    <a:pt x="340606" y="46980"/>
                    <a:pt x="350908" y="71852"/>
                    <a:pt x="350908" y="97787"/>
                  </a:cubicBezTo>
                  <a:lnTo>
                    <a:pt x="350908" y="97787"/>
                  </a:lnTo>
                  <a:cubicBezTo>
                    <a:pt x="350908" y="123722"/>
                    <a:pt x="340606" y="148594"/>
                    <a:pt x="322267" y="166933"/>
                  </a:cubicBezTo>
                  <a:cubicBezTo>
                    <a:pt x="303928" y="185271"/>
                    <a:pt x="279056" y="195574"/>
                    <a:pt x="253121" y="195574"/>
                  </a:cubicBezTo>
                  <a:lnTo>
                    <a:pt x="97787" y="195574"/>
                  </a:lnTo>
                  <a:cubicBezTo>
                    <a:pt x="71852" y="195574"/>
                    <a:pt x="46980" y="185271"/>
                    <a:pt x="28641" y="166933"/>
                  </a:cubicBezTo>
                  <a:cubicBezTo>
                    <a:pt x="10303" y="148594"/>
                    <a:pt x="0" y="123722"/>
                    <a:pt x="0" y="97787"/>
                  </a:cubicBezTo>
                  <a:lnTo>
                    <a:pt x="0" y="97787"/>
                  </a:lnTo>
                  <a:cubicBezTo>
                    <a:pt x="0" y="71852"/>
                    <a:pt x="10303" y="46980"/>
                    <a:pt x="28641" y="28641"/>
                  </a:cubicBezTo>
                  <a:cubicBezTo>
                    <a:pt x="46980" y="10303"/>
                    <a:pt x="71852" y="0"/>
                    <a:pt x="97787" y="0"/>
                  </a:cubicBezTo>
                  <a:close/>
                </a:path>
              </a:pathLst>
            </a:custGeom>
            <a:solidFill>
              <a:srgbClr val="153969"/>
            </a:solidFill>
            <a:ln cap="rnd">
              <a:noFill/>
              <a:prstDash val="solid"/>
              <a:round/>
            </a:ln>
          </p:spPr>
        </p:sp>
        <p:sp>
          <p:nvSpPr>
            <p:cNvPr name="TextBox 46" id="46"/>
            <p:cNvSpPr txBox="true"/>
            <p:nvPr/>
          </p:nvSpPr>
          <p:spPr>
            <a:xfrm>
              <a:off x="0" y="-57150"/>
              <a:ext cx="350908" cy="252724"/>
            </a:xfrm>
            <a:prstGeom prst="rect">
              <a:avLst/>
            </a:prstGeom>
          </p:spPr>
          <p:txBody>
            <a:bodyPr anchor="ctr" rtlCol="false" tIns="254000" lIns="254000" bIns="254000" rIns="254000"/>
            <a:lstStyle/>
            <a:p>
              <a:pPr algn="ctr">
                <a:lnSpc>
                  <a:spcPts val="2800"/>
                </a:lnSpc>
              </a:pPr>
              <a:r>
                <a:rPr lang="en-US" sz="2000">
                  <a:solidFill>
                    <a:srgbClr val="FFFFFF"/>
                  </a:solidFill>
                  <a:latin typeface="Helios Bold"/>
                  <a:ea typeface="Helios Bold"/>
                  <a:cs typeface="Helios Bold"/>
                  <a:sym typeface="Helios Bold"/>
                </a:rPr>
                <a:t>LLM</a:t>
              </a:r>
            </a:p>
          </p:txBody>
        </p:sp>
      </p:grpSp>
      <p:grpSp>
        <p:nvGrpSpPr>
          <p:cNvPr name="Group 47" id="47"/>
          <p:cNvGrpSpPr/>
          <p:nvPr/>
        </p:nvGrpSpPr>
        <p:grpSpPr>
          <a:xfrm rot="0">
            <a:off x="16445354" y="4512913"/>
            <a:ext cx="1501195" cy="1019712"/>
            <a:chOff x="0" y="0"/>
            <a:chExt cx="395376" cy="268566"/>
          </a:xfrm>
        </p:grpSpPr>
        <p:sp>
          <p:nvSpPr>
            <p:cNvPr name="Freeform 48" id="48"/>
            <p:cNvSpPr/>
            <p:nvPr/>
          </p:nvSpPr>
          <p:spPr>
            <a:xfrm flipH="false" flipV="false" rot="0">
              <a:off x="0" y="0"/>
              <a:ext cx="395376" cy="268566"/>
            </a:xfrm>
            <a:custGeom>
              <a:avLst/>
              <a:gdLst/>
              <a:ahLst/>
              <a:cxnLst/>
              <a:rect r="r" b="b" t="t" l="l"/>
              <a:pathLst>
                <a:path h="268566" w="395376">
                  <a:moveTo>
                    <a:pt x="134283" y="0"/>
                  </a:moveTo>
                  <a:lnTo>
                    <a:pt x="261093" y="0"/>
                  </a:lnTo>
                  <a:cubicBezTo>
                    <a:pt x="335256" y="0"/>
                    <a:pt x="395376" y="60121"/>
                    <a:pt x="395376" y="134283"/>
                  </a:cubicBezTo>
                  <a:lnTo>
                    <a:pt x="395376" y="134283"/>
                  </a:lnTo>
                  <a:cubicBezTo>
                    <a:pt x="395376" y="208446"/>
                    <a:pt x="335256" y="268566"/>
                    <a:pt x="261093" y="268566"/>
                  </a:cubicBezTo>
                  <a:lnTo>
                    <a:pt x="134283" y="268566"/>
                  </a:lnTo>
                  <a:cubicBezTo>
                    <a:pt x="60121" y="268566"/>
                    <a:pt x="0" y="208446"/>
                    <a:pt x="0" y="134283"/>
                  </a:cubicBezTo>
                  <a:lnTo>
                    <a:pt x="0" y="134283"/>
                  </a:lnTo>
                  <a:cubicBezTo>
                    <a:pt x="0" y="60121"/>
                    <a:pt x="60121" y="0"/>
                    <a:pt x="134283" y="0"/>
                  </a:cubicBezTo>
                  <a:close/>
                </a:path>
              </a:pathLst>
            </a:custGeom>
            <a:solidFill>
              <a:srgbClr val="C0CFE1"/>
            </a:solidFill>
            <a:ln cap="rnd">
              <a:noFill/>
              <a:prstDash val="solid"/>
              <a:round/>
            </a:ln>
          </p:spPr>
        </p:sp>
        <p:sp>
          <p:nvSpPr>
            <p:cNvPr name="TextBox 49" id="49"/>
            <p:cNvSpPr txBox="true"/>
            <p:nvPr/>
          </p:nvSpPr>
          <p:spPr>
            <a:xfrm>
              <a:off x="0" y="-38100"/>
              <a:ext cx="395376" cy="306666"/>
            </a:xfrm>
            <a:prstGeom prst="rect">
              <a:avLst/>
            </a:prstGeom>
          </p:spPr>
          <p:txBody>
            <a:bodyPr anchor="ctr" rtlCol="false" tIns="254000" lIns="254000" bIns="254000" rIns="254000"/>
            <a:lstStyle/>
            <a:p>
              <a:pPr algn="ctr">
                <a:lnSpc>
                  <a:spcPts val="2100"/>
                </a:lnSpc>
              </a:pPr>
              <a:r>
                <a:rPr lang="en-US" sz="1500">
                  <a:solidFill>
                    <a:srgbClr val="2A2E3A"/>
                  </a:solidFill>
                  <a:latin typeface="Helios Bold"/>
                  <a:ea typeface="Helios Bold"/>
                  <a:cs typeface="Helios Bold"/>
                  <a:sym typeface="Helios Bold"/>
                </a:rPr>
                <a:t>Generated Response</a:t>
              </a:r>
            </a:p>
          </p:txBody>
        </p:sp>
      </p:grpSp>
      <p:grpSp>
        <p:nvGrpSpPr>
          <p:cNvPr name="Group 50" id="50"/>
          <p:cNvGrpSpPr/>
          <p:nvPr/>
        </p:nvGrpSpPr>
        <p:grpSpPr>
          <a:xfrm rot="0">
            <a:off x="16459568" y="7969573"/>
            <a:ext cx="1498551" cy="742569"/>
            <a:chOff x="0" y="0"/>
            <a:chExt cx="394680" cy="195574"/>
          </a:xfrm>
        </p:grpSpPr>
        <p:sp>
          <p:nvSpPr>
            <p:cNvPr name="Freeform 51" id="51"/>
            <p:cNvSpPr/>
            <p:nvPr/>
          </p:nvSpPr>
          <p:spPr>
            <a:xfrm flipH="false" flipV="false" rot="0">
              <a:off x="0" y="0"/>
              <a:ext cx="394680" cy="195574"/>
            </a:xfrm>
            <a:custGeom>
              <a:avLst/>
              <a:gdLst/>
              <a:ahLst/>
              <a:cxnLst/>
              <a:rect r="r" b="b" t="t" l="l"/>
              <a:pathLst>
                <a:path h="195574" w="394680">
                  <a:moveTo>
                    <a:pt x="97787" y="0"/>
                  </a:moveTo>
                  <a:lnTo>
                    <a:pt x="296893" y="0"/>
                  </a:lnTo>
                  <a:cubicBezTo>
                    <a:pt x="322828" y="0"/>
                    <a:pt x="347700" y="10303"/>
                    <a:pt x="366039" y="28641"/>
                  </a:cubicBezTo>
                  <a:cubicBezTo>
                    <a:pt x="384378" y="46980"/>
                    <a:pt x="394680" y="71852"/>
                    <a:pt x="394680" y="97787"/>
                  </a:cubicBezTo>
                  <a:lnTo>
                    <a:pt x="394680" y="97787"/>
                  </a:lnTo>
                  <a:cubicBezTo>
                    <a:pt x="394680" y="123722"/>
                    <a:pt x="384378" y="148594"/>
                    <a:pt x="366039" y="166933"/>
                  </a:cubicBezTo>
                  <a:cubicBezTo>
                    <a:pt x="347700" y="185271"/>
                    <a:pt x="322828" y="195574"/>
                    <a:pt x="296893" y="195574"/>
                  </a:cubicBezTo>
                  <a:lnTo>
                    <a:pt x="97787" y="195574"/>
                  </a:lnTo>
                  <a:cubicBezTo>
                    <a:pt x="71852" y="195574"/>
                    <a:pt x="46980" y="185271"/>
                    <a:pt x="28641" y="166933"/>
                  </a:cubicBezTo>
                  <a:cubicBezTo>
                    <a:pt x="10303" y="148594"/>
                    <a:pt x="0" y="123722"/>
                    <a:pt x="0" y="97787"/>
                  </a:cubicBezTo>
                  <a:lnTo>
                    <a:pt x="0" y="97787"/>
                  </a:lnTo>
                  <a:cubicBezTo>
                    <a:pt x="0" y="71852"/>
                    <a:pt x="10303" y="46980"/>
                    <a:pt x="28641" y="28641"/>
                  </a:cubicBezTo>
                  <a:cubicBezTo>
                    <a:pt x="46980" y="10303"/>
                    <a:pt x="71852" y="0"/>
                    <a:pt x="97787" y="0"/>
                  </a:cubicBezTo>
                  <a:close/>
                </a:path>
              </a:pathLst>
            </a:custGeom>
            <a:solidFill>
              <a:srgbClr val="718BAB"/>
            </a:solidFill>
            <a:ln cap="rnd">
              <a:noFill/>
              <a:prstDash val="solid"/>
              <a:round/>
            </a:ln>
          </p:spPr>
        </p:sp>
        <p:sp>
          <p:nvSpPr>
            <p:cNvPr name="TextBox 52" id="52"/>
            <p:cNvSpPr txBox="true"/>
            <p:nvPr/>
          </p:nvSpPr>
          <p:spPr>
            <a:xfrm>
              <a:off x="0" y="-38100"/>
              <a:ext cx="394680" cy="233674"/>
            </a:xfrm>
            <a:prstGeom prst="rect">
              <a:avLst/>
            </a:prstGeom>
          </p:spPr>
          <p:txBody>
            <a:bodyPr anchor="ctr" rtlCol="false" tIns="254000" lIns="254000" bIns="254000" rIns="254000"/>
            <a:lstStyle/>
            <a:p>
              <a:pPr algn="ctr">
                <a:lnSpc>
                  <a:spcPts val="2100"/>
                </a:lnSpc>
              </a:pPr>
              <a:r>
                <a:rPr lang="en-US" sz="1500">
                  <a:solidFill>
                    <a:srgbClr val="2A2E3A"/>
                  </a:solidFill>
                  <a:latin typeface="Helios Bold"/>
                  <a:ea typeface="Helios Bold"/>
                  <a:cs typeface="Helios Bold"/>
                  <a:sym typeface="Helios Bold"/>
                </a:rPr>
                <a:t>Context</a:t>
              </a:r>
            </a:p>
          </p:txBody>
        </p:sp>
      </p:grpSp>
      <p:grpSp>
        <p:nvGrpSpPr>
          <p:cNvPr name="Group 53" id="53"/>
          <p:cNvGrpSpPr/>
          <p:nvPr/>
        </p:nvGrpSpPr>
        <p:grpSpPr>
          <a:xfrm rot="0">
            <a:off x="14506398" y="7793360"/>
            <a:ext cx="1645127" cy="1094994"/>
            <a:chOff x="0" y="0"/>
            <a:chExt cx="433284" cy="288393"/>
          </a:xfrm>
        </p:grpSpPr>
        <p:sp>
          <p:nvSpPr>
            <p:cNvPr name="Freeform 54" id="54"/>
            <p:cNvSpPr/>
            <p:nvPr/>
          </p:nvSpPr>
          <p:spPr>
            <a:xfrm flipH="false" flipV="false" rot="0">
              <a:off x="0" y="0"/>
              <a:ext cx="433284" cy="288393"/>
            </a:xfrm>
            <a:custGeom>
              <a:avLst/>
              <a:gdLst/>
              <a:ahLst/>
              <a:cxnLst/>
              <a:rect r="r" b="b" t="t" l="l"/>
              <a:pathLst>
                <a:path h="288393" w="433284">
                  <a:moveTo>
                    <a:pt x="141179" y="0"/>
                  </a:moveTo>
                  <a:lnTo>
                    <a:pt x="292105" y="0"/>
                  </a:lnTo>
                  <a:cubicBezTo>
                    <a:pt x="370076" y="0"/>
                    <a:pt x="433284" y="63208"/>
                    <a:pt x="433284" y="141179"/>
                  </a:cubicBezTo>
                  <a:lnTo>
                    <a:pt x="433284" y="147214"/>
                  </a:lnTo>
                  <a:cubicBezTo>
                    <a:pt x="433284" y="225185"/>
                    <a:pt x="370076" y="288393"/>
                    <a:pt x="292105" y="288393"/>
                  </a:cubicBezTo>
                  <a:lnTo>
                    <a:pt x="141179" y="288393"/>
                  </a:lnTo>
                  <a:cubicBezTo>
                    <a:pt x="63208" y="288393"/>
                    <a:pt x="0" y="225185"/>
                    <a:pt x="0" y="147214"/>
                  </a:cubicBezTo>
                  <a:lnTo>
                    <a:pt x="0" y="141179"/>
                  </a:lnTo>
                  <a:cubicBezTo>
                    <a:pt x="0" y="63208"/>
                    <a:pt x="63208" y="0"/>
                    <a:pt x="141179" y="0"/>
                  </a:cubicBezTo>
                  <a:close/>
                </a:path>
              </a:pathLst>
            </a:custGeom>
            <a:solidFill>
              <a:srgbClr val="C0CFE1"/>
            </a:solidFill>
            <a:ln cap="rnd">
              <a:noFill/>
              <a:prstDash val="solid"/>
              <a:round/>
            </a:ln>
          </p:spPr>
        </p:sp>
        <p:sp>
          <p:nvSpPr>
            <p:cNvPr name="TextBox 55" id="55"/>
            <p:cNvSpPr txBox="true"/>
            <p:nvPr/>
          </p:nvSpPr>
          <p:spPr>
            <a:xfrm>
              <a:off x="0" y="-38100"/>
              <a:ext cx="433284" cy="326493"/>
            </a:xfrm>
            <a:prstGeom prst="rect">
              <a:avLst/>
            </a:prstGeom>
          </p:spPr>
          <p:txBody>
            <a:bodyPr anchor="ctr" rtlCol="false" tIns="254000" lIns="254000" bIns="254000" rIns="254000"/>
            <a:lstStyle/>
            <a:p>
              <a:pPr algn="ctr">
                <a:lnSpc>
                  <a:spcPts val="2100"/>
                </a:lnSpc>
              </a:pPr>
              <a:r>
                <a:rPr lang="en-US" sz="1500">
                  <a:solidFill>
                    <a:srgbClr val="2A2E3A"/>
                  </a:solidFill>
                  <a:latin typeface="Helios Bold"/>
                  <a:ea typeface="Helios Bold"/>
                  <a:cs typeface="Helios Bold"/>
                  <a:sym typeface="Helios Bold"/>
                </a:rPr>
                <a:t>Re-ranked</a:t>
              </a:r>
            </a:p>
            <a:p>
              <a:pPr algn="ctr">
                <a:lnSpc>
                  <a:spcPts val="2100"/>
                </a:lnSpc>
              </a:pPr>
              <a:r>
                <a:rPr lang="en-US" sz="1500">
                  <a:solidFill>
                    <a:srgbClr val="2A2E3A"/>
                  </a:solidFill>
                  <a:latin typeface="Helios Bold"/>
                  <a:ea typeface="Helios Bold"/>
                  <a:cs typeface="Helios Bold"/>
                  <a:sym typeface="Helios Bold"/>
                </a:rPr>
                <a:t>Result</a:t>
              </a:r>
            </a:p>
          </p:txBody>
        </p:sp>
      </p:grpSp>
      <p:sp>
        <p:nvSpPr>
          <p:cNvPr name="AutoShape 56" id="56"/>
          <p:cNvSpPr/>
          <p:nvPr/>
        </p:nvSpPr>
        <p:spPr>
          <a:xfrm flipV="true">
            <a:off x="1519998" y="6257742"/>
            <a:ext cx="295275" cy="0"/>
          </a:xfrm>
          <a:prstGeom prst="line">
            <a:avLst/>
          </a:prstGeom>
          <a:ln cap="flat" w="28575">
            <a:solidFill>
              <a:srgbClr val="000000">
                <a:alpha val="80000"/>
              </a:srgbClr>
            </a:solidFill>
            <a:prstDash val="solid"/>
            <a:headEnd type="none" len="sm" w="sm"/>
            <a:tailEnd type="triangle" len="med" w="lg"/>
          </a:ln>
        </p:spPr>
      </p:sp>
      <p:sp>
        <p:nvSpPr>
          <p:cNvPr name="AutoShape 57" id="57"/>
          <p:cNvSpPr/>
          <p:nvPr/>
        </p:nvSpPr>
        <p:spPr>
          <a:xfrm>
            <a:off x="3874287" y="6257742"/>
            <a:ext cx="295275" cy="4103"/>
          </a:xfrm>
          <a:prstGeom prst="line">
            <a:avLst/>
          </a:prstGeom>
          <a:ln cap="flat" w="28575">
            <a:solidFill>
              <a:srgbClr val="000000">
                <a:alpha val="80000"/>
              </a:srgbClr>
            </a:solidFill>
            <a:prstDash val="solid"/>
            <a:headEnd type="none" len="sm" w="sm"/>
            <a:tailEnd type="triangle" len="med" w="lg"/>
          </a:ln>
        </p:spPr>
      </p:sp>
      <p:sp>
        <p:nvSpPr>
          <p:cNvPr name="AutoShape 58" id="58"/>
          <p:cNvSpPr/>
          <p:nvPr/>
        </p:nvSpPr>
        <p:spPr>
          <a:xfrm flipV="true">
            <a:off x="5633598" y="6174977"/>
            <a:ext cx="288376" cy="86868"/>
          </a:xfrm>
          <a:prstGeom prst="line">
            <a:avLst/>
          </a:prstGeom>
          <a:ln cap="flat" w="28575">
            <a:solidFill>
              <a:srgbClr val="000000">
                <a:alpha val="80000"/>
              </a:srgbClr>
            </a:solidFill>
            <a:prstDash val="solid"/>
            <a:headEnd type="none" len="sm" w="sm"/>
            <a:tailEnd type="triangle" len="med" w="lg"/>
          </a:ln>
        </p:spPr>
      </p:sp>
      <p:sp>
        <p:nvSpPr>
          <p:cNvPr name="AutoShape 59" id="59"/>
          <p:cNvSpPr/>
          <p:nvPr/>
        </p:nvSpPr>
        <p:spPr>
          <a:xfrm>
            <a:off x="7778414" y="6265330"/>
            <a:ext cx="419100" cy="3096"/>
          </a:xfrm>
          <a:prstGeom prst="line">
            <a:avLst/>
          </a:prstGeom>
          <a:ln cap="flat" w="28575">
            <a:solidFill>
              <a:srgbClr val="000000">
                <a:alpha val="80000"/>
              </a:srgbClr>
            </a:solidFill>
            <a:prstDash val="solid"/>
            <a:headEnd type="none" len="sm" w="sm"/>
            <a:tailEnd type="triangle" len="med" w="lg"/>
          </a:ln>
        </p:spPr>
      </p:sp>
      <p:sp>
        <p:nvSpPr>
          <p:cNvPr name="AutoShape 60" id="60"/>
          <p:cNvSpPr/>
          <p:nvPr/>
        </p:nvSpPr>
        <p:spPr>
          <a:xfrm>
            <a:off x="9843155" y="6268426"/>
            <a:ext cx="619125" cy="771776"/>
          </a:xfrm>
          <a:prstGeom prst="line">
            <a:avLst/>
          </a:prstGeom>
          <a:ln cap="flat" w="28575">
            <a:solidFill>
              <a:srgbClr val="000000">
                <a:alpha val="80000"/>
              </a:srgbClr>
            </a:solidFill>
            <a:prstDash val="solid"/>
            <a:headEnd type="none" len="sm" w="sm"/>
            <a:tailEnd type="triangle" len="med" w="lg"/>
          </a:ln>
        </p:spPr>
      </p:sp>
      <p:sp>
        <p:nvSpPr>
          <p:cNvPr name="AutoShape 61" id="61"/>
          <p:cNvSpPr/>
          <p:nvPr/>
        </p:nvSpPr>
        <p:spPr>
          <a:xfrm>
            <a:off x="2844780" y="6860588"/>
            <a:ext cx="3496295" cy="1480269"/>
          </a:xfrm>
          <a:prstGeom prst="line">
            <a:avLst/>
          </a:prstGeom>
          <a:ln cap="flat" w="28575">
            <a:solidFill>
              <a:srgbClr val="000000">
                <a:alpha val="80000"/>
              </a:srgbClr>
            </a:solidFill>
            <a:prstDash val="solid"/>
            <a:headEnd type="none" len="sm" w="sm"/>
            <a:tailEnd type="triangle" len="med" w="lg"/>
          </a:ln>
        </p:spPr>
      </p:sp>
      <p:sp>
        <p:nvSpPr>
          <p:cNvPr name="AutoShape 62" id="62"/>
          <p:cNvSpPr/>
          <p:nvPr/>
        </p:nvSpPr>
        <p:spPr>
          <a:xfrm flipH="true">
            <a:off x="8197514" y="7040201"/>
            <a:ext cx="2264766" cy="1300656"/>
          </a:xfrm>
          <a:prstGeom prst="line">
            <a:avLst/>
          </a:prstGeom>
          <a:ln cap="flat" w="28575">
            <a:solidFill>
              <a:srgbClr val="000000">
                <a:alpha val="80000"/>
              </a:srgbClr>
            </a:solidFill>
            <a:prstDash val="solid"/>
            <a:headEnd type="none" len="sm" w="sm"/>
            <a:tailEnd type="triangle" len="med" w="lg"/>
          </a:ln>
        </p:spPr>
      </p:sp>
      <p:sp>
        <p:nvSpPr>
          <p:cNvPr name="AutoShape 63" id="63"/>
          <p:cNvSpPr/>
          <p:nvPr/>
        </p:nvSpPr>
        <p:spPr>
          <a:xfrm flipV="true">
            <a:off x="7269294" y="6815923"/>
            <a:ext cx="1751040" cy="977437"/>
          </a:xfrm>
          <a:prstGeom prst="line">
            <a:avLst/>
          </a:prstGeom>
          <a:ln cap="flat" w="28575">
            <a:solidFill>
              <a:srgbClr val="000000">
                <a:alpha val="80000"/>
              </a:srgbClr>
            </a:solidFill>
            <a:prstDash val="solid"/>
            <a:headEnd type="none" len="sm" w="sm"/>
            <a:tailEnd type="triangle" len="med" w="lg"/>
          </a:ln>
        </p:spPr>
      </p:sp>
      <p:sp>
        <p:nvSpPr>
          <p:cNvPr name="AutoShape 64" id="64"/>
          <p:cNvSpPr/>
          <p:nvPr/>
        </p:nvSpPr>
        <p:spPr>
          <a:xfrm flipH="true">
            <a:off x="12004353" y="6085507"/>
            <a:ext cx="495300" cy="809505"/>
          </a:xfrm>
          <a:prstGeom prst="line">
            <a:avLst/>
          </a:prstGeom>
          <a:ln cap="flat" w="38100">
            <a:solidFill>
              <a:srgbClr val="000000">
                <a:alpha val="80000"/>
              </a:srgbClr>
            </a:solidFill>
            <a:prstDash val="solid"/>
            <a:headEnd type="none" len="sm" w="sm"/>
            <a:tailEnd type="triangle" len="med" w="lg"/>
          </a:ln>
        </p:spPr>
      </p:sp>
      <p:sp>
        <p:nvSpPr>
          <p:cNvPr name="AutoShape 65" id="65"/>
          <p:cNvSpPr/>
          <p:nvPr/>
        </p:nvSpPr>
        <p:spPr>
          <a:xfrm>
            <a:off x="13299765" y="5143500"/>
            <a:ext cx="22452" cy="394510"/>
          </a:xfrm>
          <a:prstGeom prst="line">
            <a:avLst/>
          </a:prstGeom>
          <a:ln cap="flat" w="38100">
            <a:solidFill>
              <a:srgbClr val="000000">
                <a:alpha val="80000"/>
              </a:srgbClr>
            </a:solidFill>
            <a:prstDash val="solid"/>
            <a:headEnd type="none" len="sm" w="sm"/>
            <a:tailEnd type="triangle" len="med" w="lg"/>
          </a:ln>
        </p:spPr>
      </p:sp>
      <p:sp>
        <p:nvSpPr>
          <p:cNvPr name="AutoShape 66" id="66"/>
          <p:cNvSpPr/>
          <p:nvPr/>
        </p:nvSpPr>
        <p:spPr>
          <a:xfrm flipH="true">
            <a:off x="14144780" y="4186907"/>
            <a:ext cx="1184181" cy="484378"/>
          </a:xfrm>
          <a:prstGeom prst="line">
            <a:avLst/>
          </a:prstGeom>
          <a:ln cap="flat" w="38100">
            <a:solidFill>
              <a:srgbClr val="000000">
                <a:alpha val="80000"/>
              </a:srgbClr>
            </a:solidFill>
            <a:prstDash val="solid"/>
            <a:headEnd type="none" len="sm" w="sm"/>
            <a:tailEnd type="triangle" len="med" w="lg"/>
          </a:ln>
        </p:spPr>
      </p:sp>
      <p:sp>
        <p:nvSpPr>
          <p:cNvPr name="AutoShape 67" id="67"/>
          <p:cNvSpPr/>
          <p:nvPr/>
        </p:nvSpPr>
        <p:spPr>
          <a:xfrm flipH="true">
            <a:off x="15328961" y="2955121"/>
            <a:ext cx="1130607" cy="577228"/>
          </a:xfrm>
          <a:prstGeom prst="line">
            <a:avLst/>
          </a:prstGeom>
          <a:ln cap="flat" w="38100">
            <a:solidFill>
              <a:srgbClr val="000000">
                <a:alpha val="80000"/>
              </a:srgbClr>
            </a:solidFill>
            <a:prstDash val="solid"/>
            <a:headEnd type="none" len="sm" w="sm"/>
            <a:tailEnd type="triangle" len="med" w="lg"/>
          </a:ln>
        </p:spPr>
      </p:sp>
      <p:sp>
        <p:nvSpPr>
          <p:cNvPr name="AutoShape 68" id="68"/>
          <p:cNvSpPr/>
          <p:nvPr/>
        </p:nvSpPr>
        <p:spPr>
          <a:xfrm>
            <a:off x="11994828" y="7040201"/>
            <a:ext cx="2511569" cy="1300656"/>
          </a:xfrm>
          <a:prstGeom prst="line">
            <a:avLst/>
          </a:prstGeom>
          <a:ln cap="flat" w="28575">
            <a:solidFill>
              <a:srgbClr val="000000">
                <a:alpha val="80000"/>
              </a:srgbClr>
            </a:solidFill>
            <a:prstDash val="solid"/>
            <a:headEnd type="none" len="sm" w="sm"/>
            <a:tailEnd type="triangle" len="med" w="lg"/>
          </a:ln>
        </p:spPr>
      </p:sp>
      <p:sp>
        <p:nvSpPr>
          <p:cNvPr name="AutoShape 69" id="69"/>
          <p:cNvSpPr/>
          <p:nvPr/>
        </p:nvSpPr>
        <p:spPr>
          <a:xfrm flipV="true">
            <a:off x="16151525" y="8340857"/>
            <a:ext cx="308043" cy="0"/>
          </a:xfrm>
          <a:prstGeom prst="line">
            <a:avLst/>
          </a:prstGeom>
          <a:ln cap="flat" w="38100">
            <a:solidFill>
              <a:srgbClr val="000000">
                <a:alpha val="80000"/>
              </a:srgbClr>
            </a:solidFill>
            <a:prstDash val="solid"/>
            <a:headEnd type="none" len="sm" w="sm"/>
            <a:tailEnd type="triangle" len="med" w="lg"/>
          </a:ln>
        </p:spPr>
      </p:sp>
      <p:sp>
        <p:nvSpPr>
          <p:cNvPr name="AutoShape 70" id="70"/>
          <p:cNvSpPr/>
          <p:nvPr/>
        </p:nvSpPr>
        <p:spPr>
          <a:xfrm flipH="true" flipV="true">
            <a:off x="17195952" y="6917546"/>
            <a:ext cx="12892" cy="1052026"/>
          </a:xfrm>
          <a:prstGeom prst="line">
            <a:avLst/>
          </a:prstGeom>
          <a:ln cap="flat" w="38100">
            <a:solidFill>
              <a:srgbClr val="000000">
                <a:alpha val="80000"/>
              </a:srgbClr>
            </a:solidFill>
            <a:prstDash val="solid"/>
            <a:headEnd type="none" len="sm" w="sm"/>
            <a:tailEnd type="triangle" len="med" w="lg"/>
          </a:ln>
        </p:spPr>
      </p:sp>
      <p:sp>
        <p:nvSpPr>
          <p:cNvPr name="AutoShape 71" id="71"/>
          <p:cNvSpPr/>
          <p:nvPr/>
        </p:nvSpPr>
        <p:spPr>
          <a:xfrm>
            <a:off x="15328961" y="4186907"/>
            <a:ext cx="1200813" cy="2359355"/>
          </a:xfrm>
          <a:prstGeom prst="line">
            <a:avLst/>
          </a:prstGeom>
          <a:ln cap="flat" w="38100">
            <a:solidFill>
              <a:srgbClr val="000000">
                <a:alpha val="80000"/>
              </a:srgbClr>
            </a:solidFill>
            <a:prstDash val="solid"/>
            <a:headEnd type="none" len="sm" w="sm"/>
            <a:tailEnd type="triangle" len="med" w="lg"/>
          </a:ln>
        </p:spPr>
      </p:sp>
      <p:sp>
        <p:nvSpPr>
          <p:cNvPr name="AutoShape 72" id="72"/>
          <p:cNvSpPr/>
          <p:nvPr/>
        </p:nvSpPr>
        <p:spPr>
          <a:xfrm flipV="true">
            <a:off x="17195952" y="5532625"/>
            <a:ext cx="0" cy="642352"/>
          </a:xfrm>
          <a:prstGeom prst="line">
            <a:avLst/>
          </a:prstGeom>
          <a:ln cap="flat" w="38100">
            <a:solidFill>
              <a:srgbClr val="000000">
                <a:alpha val="80000"/>
              </a:srgbClr>
            </a:solidFill>
            <a:prstDash val="solid"/>
            <a:headEnd type="none" len="sm" w="sm"/>
            <a:tailEnd type="triangle" len="med" w="lg"/>
          </a:ln>
        </p:spPr>
      </p:sp>
      <p:sp>
        <p:nvSpPr>
          <p:cNvPr name="AutoShape 73" id="73"/>
          <p:cNvSpPr/>
          <p:nvPr/>
        </p:nvSpPr>
        <p:spPr>
          <a:xfrm flipV="true">
            <a:off x="17195952" y="3532349"/>
            <a:ext cx="14214" cy="980564"/>
          </a:xfrm>
          <a:prstGeom prst="line">
            <a:avLst/>
          </a:prstGeom>
          <a:ln cap="flat" w="28575">
            <a:solidFill>
              <a:srgbClr val="000000">
                <a:alpha val="80000"/>
              </a:srgbClr>
            </a:solidFill>
            <a:prstDash val="solid"/>
            <a:headEnd type="none" len="sm" w="sm"/>
            <a:tailEnd type="triangle" len="med" w="lg"/>
          </a:ln>
        </p:spPr>
      </p:sp>
      <p:sp>
        <p:nvSpPr>
          <p:cNvPr name="TextBox 74" id="74"/>
          <p:cNvSpPr txBox="true"/>
          <p:nvPr/>
        </p:nvSpPr>
        <p:spPr>
          <a:xfrm rot="0">
            <a:off x="403925" y="612775"/>
            <a:ext cx="17651600" cy="822325"/>
          </a:xfrm>
          <a:prstGeom prst="rect">
            <a:avLst/>
          </a:prstGeom>
        </p:spPr>
        <p:txBody>
          <a:bodyPr anchor="t" rtlCol="false" tIns="0" lIns="0" bIns="0" rIns="0">
            <a:spAutoFit/>
          </a:bodyPr>
          <a:lstStyle/>
          <a:p>
            <a:pPr algn="ctr">
              <a:lnSpc>
                <a:spcPts val="6500"/>
              </a:lnSpc>
            </a:pPr>
            <a:r>
              <a:rPr lang="en-US" sz="5000">
                <a:solidFill>
                  <a:srgbClr val="FFFFFF"/>
                </a:solidFill>
                <a:latin typeface="Klein Bold"/>
                <a:ea typeface="Klein Bold"/>
                <a:cs typeface="Klein Bold"/>
                <a:sym typeface="Klein Bold"/>
              </a:rPr>
              <a:t>Deep understanding about work flow and algorthim</a:t>
            </a:r>
          </a:p>
        </p:txBody>
      </p:sp>
      <p:sp>
        <p:nvSpPr>
          <p:cNvPr name="TextBox 75" id="75"/>
          <p:cNvSpPr txBox="true"/>
          <p:nvPr/>
        </p:nvSpPr>
        <p:spPr>
          <a:xfrm rot="0">
            <a:off x="16852489" y="3115110"/>
            <a:ext cx="715352" cy="358775"/>
          </a:xfrm>
          <a:prstGeom prst="rect">
            <a:avLst/>
          </a:prstGeom>
        </p:spPr>
        <p:txBody>
          <a:bodyPr anchor="t" rtlCol="false" tIns="0" lIns="0" bIns="0" rIns="0">
            <a:spAutoFit/>
          </a:bodyPr>
          <a:lstStyle/>
          <a:p>
            <a:pPr algn="l">
              <a:lnSpc>
                <a:spcPts val="2800"/>
              </a:lnSpc>
            </a:pPr>
            <a:r>
              <a:rPr lang="en-US" sz="2000">
                <a:solidFill>
                  <a:srgbClr val="2A2E3A"/>
                </a:solidFill>
                <a:latin typeface="Helios Bold"/>
                <a:ea typeface="Helios Bold"/>
                <a:cs typeface="Helios Bold"/>
                <a:sym typeface="Helios Bold"/>
              </a:rPr>
              <a:t>Users</a:t>
            </a:r>
          </a:p>
        </p:txBody>
      </p:sp>
      <p:sp>
        <p:nvSpPr>
          <p:cNvPr name="TextBox 76" id="76"/>
          <p:cNvSpPr txBox="true"/>
          <p:nvPr/>
        </p:nvSpPr>
        <p:spPr>
          <a:xfrm rot="0">
            <a:off x="403925" y="2971962"/>
            <a:ext cx="8910265" cy="1063625"/>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000000"/>
                </a:solidFill>
                <a:latin typeface="Helios Bold"/>
                <a:ea typeface="Helios Bold"/>
                <a:cs typeface="Helios Bold"/>
                <a:sym typeface="Helios Bold"/>
              </a:rPr>
              <a:t>Vectorstore -&gt; ChromaDb</a:t>
            </a:r>
          </a:p>
          <a:p>
            <a:pPr algn="l" marL="431801" indent="-215900" lvl="1">
              <a:lnSpc>
                <a:spcPts val="2800"/>
              </a:lnSpc>
              <a:buFont typeface="Arial"/>
              <a:buChar char="•"/>
            </a:pPr>
            <a:r>
              <a:rPr lang="en-US" sz="2000">
                <a:solidFill>
                  <a:srgbClr val="000000"/>
                </a:solidFill>
                <a:latin typeface="Helios Bold"/>
                <a:ea typeface="Helios Bold"/>
                <a:cs typeface="Helios Bold"/>
                <a:sym typeface="Helios Bold"/>
              </a:rPr>
              <a:t>Feature Exraction Model -&gt; Bge-base-en-v1.5 (from hugging face)</a:t>
            </a:r>
          </a:p>
          <a:p>
            <a:pPr algn="l" marL="431801" indent="-215900" lvl="1">
              <a:lnSpc>
                <a:spcPts val="2800"/>
              </a:lnSpc>
              <a:buFont typeface="Arial"/>
              <a:buChar char="•"/>
            </a:pPr>
            <a:r>
              <a:rPr lang="en-US" sz="2000">
                <a:solidFill>
                  <a:srgbClr val="000000"/>
                </a:solidFill>
                <a:latin typeface="Helios Bold"/>
                <a:ea typeface="Helios Bold"/>
                <a:cs typeface="Helios Bold"/>
                <a:sym typeface="Helios Bold"/>
              </a:rPr>
              <a:t>Text Generation Model -&gt; Mistral-7B-Instruct-v0.3 (from hugging face)</a:t>
            </a:r>
          </a:p>
        </p:txBody>
      </p:sp>
      <p:sp>
        <p:nvSpPr>
          <p:cNvPr name="TextBox 77" id="77"/>
          <p:cNvSpPr txBox="true"/>
          <p:nvPr/>
        </p:nvSpPr>
        <p:spPr>
          <a:xfrm rot="0">
            <a:off x="-219075" y="2528695"/>
            <a:ext cx="2806300" cy="52387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53969"/>
                </a:solidFill>
                <a:latin typeface="Helios Bold"/>
                <a:ea typeface="Helios Bold"/>
                <a:cs typeface="Helios Bold"/>
                <a:sym typeface="Helios Bold"/>
              </a:rPr>
              <a:t>Model Info.</a:t>
            </a:r>
          </a:p>
        </p:txBody>
      </p:sp>
      <p:sp>
        <p:nvSpPr>
          <p:cNvPr name="TextBox 78" id="78"/>
          <p:cNvSpPr txBox="true"/>
          <p:nvPr/>
        </p:nvSpPr>
        <p:spPr>
          <a:xfrm rot="0">
            <a:off x="10679366" y="9640647"/>
            <a:ext cx="7692164" cy="422275"/>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718BAB"/>
                </a:solidFill>
                <a:latin typeface="Helios Bold"/>
                <a:ea typeface="Helios Bold"/>
                <a:cs typeface="Helios Bold"/>
                <a:sym typeface="Helios Bold"/>
                <a:hlinkClick r:id="rId13" tooltip="https://colab.research.google.com/drive/1sp1IDb0odSeUW8AReoXdsKgb4Ej1xHBF?usp=sharing"/>
              </a:rPr>
              <a:t>For getting more idea about code refer this </a:t>
            </a:r>
            <a:r>
              <a:rPr lang="en-US" sz="2499">
                <a:solidFill>
                  <a:srgbClr val="153969"/>
                </a:solidFill>
                <a:latin typeface="Helios Bold"/>
                <a:ea typeface="Helios Bold"/>
                <a:cs typeface="Helios Bold"/>
                <a:sym typeface="Helios Bold"/>
                <a:hlinkClick r:id="rId14" tooltip="https://colab.research.google.com/drive/1sp1IDb0odSeUW8AReoXdsKgb4Ej1xHBF?usp=sharing"/>
              </a:rPr>
              <a:t>link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350101" y="2801105"/>
            <a:ext cx="10114859" cy="7300100"/>
          </a:xfrm>
          <a:prstGeom prst="rect">
            <a:avLst/>
          </a:prstGeom>
        </p:spPr>
      </p:pic>
      <p:sp>
        <p:nvSpPr>
          <p:cNvPr name="Freeform 3" id="3"/>
          <p:cNvSpPr/>
          <p:nvPr/>
        </p:nvSpPr>
        <p:spPr>
          <a:xfrm flipH="false" flipV="false" rot="0">
            <a:off x="0" y="-775653"/>
            <a:ext cx="18288000" cy="3608707"/>
          </a:xfrm>
          <a:custGeom>
            <a:avLst/>
            <a:gdLst/>
            <a:ahLst/>
            <a:cxnLst/>
            <a:rect r="r" b="b" t="t" l="l"/>
            <a:pathLst>
              <a:path h="3608707" w="18288000">
                <a:moveTo>
                  <a:pt x="0" y="0"/>
                </a:moveTo>
                <a:lnTo>
                  <a:pt x="18288000" y="0"/>
                </a:lnTo>
                <a:lnTo>
                  <a:pt x="18288000" y="3608706"/>
                </a:lnTo>
                <a:lnTo>
                  <a:pt x="0" y="3608706"/>
                </a:lnTo>
                <a:lnTo>
                  <a:pt x="0" y="0"/>
                </a:lnTo>
                <a:close/>
              </a:path>
            </a:pathLst>
          </a:custGeom>
          <a:blipFill>
            <a:blip r:embed="rId3">
              <a:extLst>
                <a:ext uri="{96DAC541-7B7A-43D3-8B79-37D633B846F1}">
                  <asvg:svgBlip xmlns:asvg="http://schemas.microsoft.com/office/drawing/2016/SVG/main" r:embed="rId4"/>
                </a:ext>
              </a:extLst>
            </a:blip>
            <a:stretch>
              <a:fillRect l="0" t="-184715" r="0" b="0"/>
            </a:stretch>
          </a:blipFill>
        </p:spPr>
      </p:sp>
      <p:grpSp>
        <p:nvGrpSpPr>
          <p:cNvPr name="Group 4" id="4"/>
          <p:cNvGrpSpPr/>
          <p:nvPr/>
        </p:nvGrpSpPr>
        <p:grpSpPr>
          <a:xfrm rot="0">
            <a:off x="1028700" y="1027112"/>
            <a:ext cx="12063594" cy="1789453"/>
            <a:chOff x="0" y="0"/>
            <a:chExt cx="16084792" cy="2385937"/>
          </a:xfrm>
        </p:grpSpPr>
        <p:sp>
          <p:nvSpPr>
            <p:cNvPr name="TextBox 5" id="5"/>
            <p:cNvSpPr txBox="true"/>
            <p:nvPr/>
          </p:nvSpPr>
          <p:spPr>
            <a:xfrm rot="0">
              <a:off x="0" y="-76200"/>
              <a:ext cx="16084792" cy="1494367"/>
            </a:xfrm>
            <a:prstGeom prst="rect">
              <a:avLst/>
            </a:prstGeom>
          </p:spPr>
          <p:txBody>
            <a:bodyPr anchor="t" rtlCol="false" tIns="0" lIns="0" bIns="0" rIns="0">
              <a:spAutoFit/>
            </a:bodyPr>
            <a:lstStyle/>
            <a:p>
              <a:pPr algn="l">
                <a:lnSpc>
                  <a:spcPts val="9099"/>
                </a:lnSpc>
              </a:pPr>
              <a:r>
                <a:rPr lang="en-US" sz="6999">
                  <a:solidFill>
                    <a:srgbClr val="FFFFFF"/>
                  </a:solidFill>
                  <a:latin typeface="Klein Bold"/>
                  <a:ea typeface="Klein Bold"/>
                  <a:cs typeface="Klein Bold"/>
                  <a:sym typeface="Klein Bold"/>
                </a:rPr>
                <a:t>Our Purpose</a:t>
              </a:r>
            </a:p>
          </p:txBody>
        </p:sp>
        <p:sp>
          <p:nvSpPr>
            <p:cNvPr name="TextBox 6" id="6"/>
            <p:cNvSpPr txBox="true"/>
            <p:nvPr/>
          </p:nvSpPr>
          <p:spPr>
            <a:xfrm rot="0">
              <a:off x="0" y="1668810"/>
              <a:ext cx="14521681" cy="717127"/>
            </a:xfrm>
            <a:prstGeom prst="rect">
              <a:avLst/>
            </a:prstGeom>
          </p:spPr>
          <p:txBody>
            <a:bodyPr anchor="t" rtlCol="false" tIns="0" lIns="0" bIns="0" rIns="0">
              <a:spAutoFit/>
            </a:bodyPr>
            <a:lstStyle/>
            <a:p>
              <a:pPr algn="l">
                <a:lnSpc>
                  <a:spcPts val="4479"/>
                </a:lnSpc>
              </a:pPr>
              <a:r>
                <a:rPr lang="en-US" sz="3199" u="none">
                  <a:solidFill>
                    <a:srgbClr val="F4F4F4"/>
                  </a:solidFill>
                  <a:latin typeface="Helios"/>
                  <a:ea typeface="Helios"/>
                  <a:cs typeface="Helios"/>
                  <a:sym typeface="Helios"/>
                </a:rPr>
                <a:t>Briefly elaborate on what you want to discuss.</a:t>
              </a:r>
            </a:p>
          </p:txBody>
        </p:sp>
      </p:grpSp>
      <p:sp>
        <p:nvSpPr>
          <p:cNvPr name="TextBox 7" id="7"/>
          <p:cNvSpPr txBox="true"/>
          <p:nvPr/>
        </p:nvSpPr>
        <p:spPr>
          <a:xfrm rot="0">
            <a:off x="9523139" y="3820995"/>
            <a:ext cx="7890908" cy="1330714"/>
          </a:xfrm>
          <a:prstGeom prst="rect">
            <a:avLst/>
          </a:prstGeom>
        </p:spPr>
        <p:txBody>
          <a:bodyPr anchor="t" rtlCol="false" tIns="0" lIns="0" bIns="0" rIns="0">
            <a:spAutoFit/>
          </a:bodyPr>
          <a:lstStyle/>
          <a:p>
            <a:pPr algn="ctr">
              <a:lnSpc>
                <a:spcPts val="2988"/>
              </a:lnSpc>
            </a:pPr>
            <a:r>
              <a:rPr lang="en-US" sz="2134">
                <a:solidFill>
                  <a:srgbClr val="000000"/>
                </a:solidFill>
                <a:latin typeface="Canva Sans Bold"/>
                <a:ea typeface="Canva Sans Bold"/>
                <a:cs typeface="Canva Sans Bold"/>
                <a:sym typeface="Canva Sans Bold"/>
              </a:rPr>
              <a:t>Task 1-&gt;SAME DESCRIPTION DIFFERENT COLUMN OUTPUT</a:t>
            </a:r>
          </a:p>
          <a:p>
            <a:pPr algn="ctr">
              <a:lnSpc>
                <a:spcPts val="2568"/>
              </a:lnSpc>
            </a:pPr>
            <a:r>
              <a:rPr lang="en-US" sz="1834">
                <a:solidFill>
                  <a:srgbClr val="000000"/>
                </a:solidFill>
                <a:latin typeface="Canva Sans Bold"/>
                <a:ea typeface="Canva Sans Bold"/>
                <a:cs typeface="Canva Sans Bold"/>
                <a:sym typeface="Canva Sans Bold"/>
              </a:rPr>
              <a:t>We have kept 50 -50 % weightage to both semantic (Will help in getting relationship by desciption of coulmn) and keyword search (will help in getting relationship by Name of the column)</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1035382"/>
            <a:ext cx="18288000" cy="2646055"/>
            <a:chOff x="0" y="0"/>
            <a:chExt cx="4816593" cy="696903"/>
          </a:xfrm>
        </p:grpSpPr>
        <p:sp>
          <p:nvSpPr>
            <p:cNvPr name="Freeform 3" id="3"/>
            <p:cNvSpPr/>
            <p:nvPr/>
          </p:nvSpPr>
          <p:spPr>
            <a:xfrm flipH="false" flipV="false" rot="0">
              <a:off x="0" y="0"/>
              <a:ext cx="4816592" cy="696903"/>
            </a:xfrm>
            <a:custGeom>
              <a:avLst/>
              <a:gdLst/>
              <a:ahLst/>
              <a:cxnLst/>
              <a:rect r="r" b="b" t="t" l="l"/>
              <a:pathLst>
                <a:path h="696903" w="4816592">
                  <a:moveTo>
                    <a:pt x="0" y="0"/>
                  </a:moveTo>
                  <a:lnTo>
                    <a:pt x="4816592" y="0"/>
                  </a:lnTo>
                  <a:lnTo>
                    <a:pt x="4816592" y="696903"/>
                  </a:lnTo>
                  <a:lnTo>
                    <a:pt x="0" y="696903"/>
                  </a:lnTo>
                  <a:close/>
                </a:path>
              </a:pathLst>
            </a:custGeom>
            <a:solidFill>
              <a:srgbClr val="F4F4F4"/>
            </a:solidFill>
          </p:spPr>
        </p:sp>
        <p:sp>
          <p:nvSpPr>
            <p:cNvPr name="TextBox 4" id="4"/>
            <p:cNvSpPr txBox="true"/>
            <p:nvPr/>
          </p:nvSpPr>
          <p:spPr>
            <a:xfrm>
              <a:off x="0" y="-38100"/>
              <a:ext cx="4816593" cy="735003"/>
            </a:xfrm>
            <a:prstGeom prst="rect">
              <a:avLst/>
            </a:prstGeom>
          </p:spPr>
          <p:txBody>
            <a:bodyPr anchor="ctr" rtlCol="false" tIns="50800" lIns="50800" bIns="50800" rIns="50800"/>
            <a:lstStyle/>
            <a:p>
              <a:pPr algn="ctr">
                <a:lnSpc>
                  <a:spcPts val="2100"/>
                </a:lnSpc>
              </a:pPr>
            </a:p>
          </p:txBody>
        </p:sp>
      </p:grpSp>
      <p:sp>
        <p:nvSpPr>
          <p:cNvPr name="TextBox 5" id="5"/>
          <p:cNvSpPr txBox="true"/>
          <p:nvPr/>
        </p:nvSpPr>
        <p:spPr>
          <a:xfrm rot="0">
            <a:off x="2447824" y="435924"/>
            <a:ext cx="11928292" cy="822325"/>
          </a:xfrm>
          <a:prstGeom prst="rect">
            <a:avLst/>
          </a:prstGeom>
        </p:spPr>
        <p:txBody>
          <a:bodyPr anchor="t" rtlCol="false" tIns="0" lIns="0" bIns="0" rIns="0">
            <a:spAutoFit/>
          </a:bodyPr>
          <a:lstStyle/>
          <a:p>
            <a:pPr algn="ctr">
              <a:lnSpc>
                <a:spcPts val="6500"/>
              </a:lnSpc>
            </a:pPr>
            <a:r>
              <a:rPr lang="en-US" sz="5000">
                <a:solidFill>
                  <a:srgbClr val="153969"/>
                </a:solidFill>
                <a:latin typeface="Klein Bold"/>
                <a:ea typeface="Klein Bold"/>
                <a:cs typeface="Klein Bold"/>
                <a:sym typeface="Klein Bold"/>
              </a:rPr>
              <a:t>OUTPUT OF QUERIES</a:t>
            </a:r>
          </a:p>
        </p:txBody>
      </p:sp>
      <p:sp>
        <p:nvSpPr>
          <p:cNvPr name="TextBox 6" id="6"/>
          <p:cNvSpPr txBox="true"/>
          <p:nvPr/>
        </p:nvSpPr>
        <p:spPr>
          <a:xfrm rot="0">
            <a:off x="495432" y="2039299"/>
            <a:ext cx="7501177" cy="358775"/>
          </a:xfrm>
          <a:prstGeom prst="rect">
            <a:avLst/>
          </a:prstGeom>
        </p:spPr>
        <p:txBody>
          <a:bodyPr anchor="t" rtlCol="false" tIns="0" lIns="0" bIns="0" rIns="0">
            <a:spAutoFit/>
          </a:bodyPr>
          <a:lstStyle/>
          <a:p>
            <a:pPr algn="l">
              <a:lnSpc>
                <a:spcPts val="2800"/>
              </a:lnSpc>
              <a:spcBef>
                <a:spcPct val="0"/>
              </a:spcBef>
            </a:pPr>
            <a:r>
              <a:rPr lang="en-US" sz="2000">
                <a:solidFill>
                  <a:srgbClr val="153969"/>
                </a:solidFill>
                <a:latin typeface="Helios Bold"/>
                <a:ea typeface="Helios Bold"/>
                <a:cs typeface="Helios Bold"/>
                <a:sym typeface="Helios Bold"/>
              </a:rPr>
              <a:t>CASE 1.SAME DESCRIPTION DIFFERENT COLUMN OUTPUT</a:t>
            </a:r>
          </a:p>
        </p:txBody>
      </p:sp>
      <p:sp>
        <p:nvSpPr>
          <p:cNvPr name="TextBox 7" id="7"/>
          <p:cNvSpPr txBox="true"/>
          <p:nvPr/>
        </p:nvSpPr>
        <p:spPr>
          <a:xfrm rot="0">
            <a:off x="870532" y="2740974"/>
            <a:ext cx="6865276" cy="2602230"/>
          </a:xfrm>
          <a:prstGeom prst="rect">
            <a:avLst/>
          </a:prstGeom>
        </p:spPr>
        <p:txBody>
          <a:bodyPr anchor="t" rtlCol="false" tIns="0" lIns="0" bIns="0" rIns="0">
            <a:spAutoFit/>
          </a:bodyPr>
          <a:lstStyle/>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1. buyer_id: This column in the sales table is a foreign key that references the client_id column in the customers table. This relationship allows us to link a sale to a specific customer.</a:t>
            </a:r>
          </a:p>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2. transaction_product_id: This column in the sales table is a foreign key that references the product_code column in the products table. This relationship allows us to link a sale to a specific product.</a:t>
            </a:r>
          </a:p>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3. sales_rep: This column in the sales table is a foreign key that references the employee_id column in the employees table. This relationship allows us to link a sale to a specific sales representative.</a:t>
            </a:r>
          </a:p>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4. delivery_status: This column in the sales table is a foreign key that references the status column in the delivery_statuses table. This relationship allows us to link a sale to a specific delivery status</a:t>
            </a:r>
            <a:r>
              <a:rPr lang="en-US" sz="1200">
                <a:solidFill>
                  <a:srgbClr val="2A2E3A"/>
                </a:solidFill>
                <a:latin typeface="Canva Sans Bold"/>
                <a:ea typeface="Canva Sans Bold"/>
                <a:cs typeface="Canva Sans Bold"/>
                <a:sym typeface="Canva Sans Bold"/>
              </a:rPr>
              <a:t>hat each sale involves a product, and the product is stored in the `products` table.</a:t>
            </a:r>
          </a:p>
        </p:txBody>
      </p:sp>
      <p:sp>
        <p:nvSpPr>
          <p:cNvPr name="TextBox 8" id="8"/>
          <p:cNvSpPr txBox="true"/>
          <p:nvPr/>
        </p:nvSpPr>
        <p:spPr>
          <a:xfrm rot="0">
            <a:off x="523104" y="2464749"/>
            <a:ext cx="7184130" cy="257175"/>
          </a:xfrm>
          <a:prstGeom prst="rect">
            <a:avLst/>
          </a:prstGeom>
        </p:spPr>
        <p:txBody>
          <a:bodyPr anchor="t" rtlCol="false" tIns="0" lIns="0" bIns="0" rIns="0">
            <a:spAutoFit/>
          </a:bodyPr>
          <a:lstStyle/>
          <a:p>
            <a:pPr algn="l">
              <a:lnSpc>
                <a:spcPts val="2100"/>
              </a:lnSpc>
            </a:pPr>
            <a:r>
              <a:rPr lang="en-US" sz="1500">
                <a:solidFill>
                  <a:srgbClr val="FF3131"/>
                </a:solidFill>
                <a:latin typeface="Canva Sans Bold"/>
                <a:ea typeface="Canva Sans Bold"/>
                <a:cs typeface="Canva Sans Bold"/>
                <a:sym typeface="Canva Sans Bold"/>
              </a:rPr>
              <a:t>Query: Give me foreign key relationship with Sales table and other table</a:t>
            </a:r>
          </a:p>
        </p:txBody>
      </p:sp>
      <p:sp>
        <p:nvSpPr>
          <p:cNvPr name="TextBox 9" id="9"/>
          <p:cNvSpPr txBox="true"/>
          <p:nvPr/>
        </p:nvSpPr>
        <p:spPr>
          <a:xfrm rot="0">
            <a:off x="9839989" y="1810699"/>
            <a:ext cx="7184130" cy="358775"/>
          </a:xfrm>
          <a:prstGeom prst="rect">
            <a:avLst/>
          </a:prstGeom>
        </p:spPr>
        <p:txBody>
          <a:bodyPr anchor="t" rtlCol="false" tIns="0" lIns="0" bIns="0" rIns="0">
            <a:spAutoFit/>
          </a:bodyPr>
          <a:lstStyle/>
          <a:p>
            <a:pPr algn="l">
              <a:lnSpc>
                <a:spcPts val="2800"/>
              </a:lnSpc>
              <a:spcBef>
                <a:spcPct val="0"/>
              </a:spcBef>
            </a:pPr>
            <a:r>
              <a:rPr lang="en-US" sz="2000">
                <a:solidFill>
                  <a:srgbClr val="153969"/>
                </a:solidFill>
                <a:latin typeface="Helios Bold"/>
                <a:ea typeface="Helios Bold"/>
                <a:cs typeface="Helios Bold"/>
                <a:sym typeface="Helios Bold"/>
              </a:rPr>
              <a:t>CASE 2. SAME COLUMN NO DESCRIPTION OUTPUT</a:t>
            </a:r>
          </a:p>
        </p:txBody>
      </p:sp>
      <p:sp>
        <p:nvSpPr>
          <p:cNvPr name="TextBox 10" id="10"/>
          <p:cNvSpPr txBox="true"/>
          <p:nvPr/>
        </p:nvSpPr>
        <p:spPr>
          <a:xfrm rot="0">
            <a:off x="9973339" y="2781566"/>
            <a:ext cx="6865276" cy="2602230"/>
          </a:xfrm>
          <a:prstGeom prst="rect">
            <a:avLst/>
          </a:prstGeom>
        </p:spPr>
        <p:txBody>
          <a:bodyPr anchor="t" rtlCol="false" tIns="0" lIns="0" bIns="0" rIns="0">
            <a:spAutoFit/>
          </a:bodyPr>
          <a:lstStyle/>
          <a:p>
            <a:pPr algn="l">
              <a:lnSpc>
                <a:spcPts val="1200"/>
              </a:lnSpc>
            </a:pPr>
            <a:r>
              <a:rPr lang="en-US" sz="1200">
                <a:solidFill>
                  <a:srgbClr val="2A2E3A"/>
                </a:solidFill>
                <a:latin typeface="Canva Sans Bold"/>
                <a:ea typeface="Canva Sans Bold"/>
                <a:cs typeface="Canva Sans Bold"/>
                <a:sym typeface="Canva Sans Bold"/>
              </a:rPr>
              <a:t>1. `employees` table: The `manager_id` column in the `employees` table is a foreign key that references the `department_id` column in the `departments` table. This means that each employee has a department manager, and the department manager is a department in the `departments` table.</a:t>
            </a:r>
          </a:p>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2. `departments` table: The `location` column in the `departments` table is not a foreign key, but it could be used to establish a relationship with other tables, such as `warehouses` or `stores`, if those tables have a `location` column as well.</a:t>
            </a:r>
          </a:p>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3. `inventory` table: The `warehouse_location` column in the `inventory` table could be a foreign key that references the `location` column in the `departments` table, if the warehouse or storage facility is associated with a specific department.</a:t>
            </a:r>
          </a:p>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4. `marketing_campaigns` table: The `region` column in the `marketing_campaigns` table could be a foreign key that references the `location` column in the `departments` table, if the marketing campaigns are targeted based on department locations.</a:t>
            </a:r>
          </a:p>
          <a:p>
            <a:pPr algn="l">
              <a:lnSpc>
                <a:spcPts val="1200"/>
              </a:lnSpc>
            </a:pPr>
          </a:p>
        </p:txBody>
      </p:sp>
      <p:sp>
        <p:nvSpPr>
          <p:cNvPr name="TextBox 11" id="11"/>
          <p:cNvSpPr txBox="true"/>
          <p:nvPr/>
        </p:nvSpPr>
        <p:spPr>
          <a:xfrm rot="0">
            <a:off x="9839989" y="2400566"/>
            <a:ext cx="7777858" cy="257175"/>
          </a:xfrm>
          <a:prstGeom prst="rect">
            <a:avLst/>
          </a:prstGeom>
        </p:spPr>
        <p:txBody>
          <a:bodyPr anchor="t" rtlCol="false" tIns="0" lIns="0" bIns="0" rIns="0">
            <a:spAutoFit/>
          </a:bodyPr>
          <a:lstStyle/>
          <a:p>
            <a:pPr algn="l">
              <a:lnSpc>
                <a:spcPts val="2100"/>
              </a:lnSpc>
            </a:pPr>
            <a:r>
              <a:rPr lang="en-US" sz="1500">
                <a:solidFill>
                  <a:srgbClr val="FF3131"/>
                </a:solidFill>
                <a:latin typeface="Canva Sans Bold"/>
                <a:ea typeface="Canva Sans Bold"/>
                <a:cs typeface="Canva Sans Bold"/>
                <a:sym typeface="Canva Sans Bold"/>
              </a:rPr>
              <a:t>Query: Give me foreign key relationship with department table and other table</a:t>
            </a:r>
          </a:p>
        </p:txBody>
      </p:sp>
      <p:sp>
        <p:nvSpPr>
          <p:cNvPr name="TextBox 12" id="12"/>
          <p:cNvSpPr txBox="true"/>
          <p:nvPr/>
        </p:nvSpPr>
        <p:spPr>
          <a:xfrm rot="0">
            <a:off x="706745" y="5781354"/>
            <a:ext cx="7459551" cy="358775"/>
          </a:xfrm>
          <a:prstGeom prst="rect">
            <a:avLst/>
          </a:prstGeom>
        </p:spPr>
        <p:txBody>
          <a:bodyPr anchor="t" rtlCol="false" tIns="0" lIns="0" bIns="0" rIns="0">
            <a:spAutoFit/>
          </a:bodyPr>
          <a:lstStyle/>
          <a:p>
            <a:pPr algn="l">
              <a:lnSpc>
                <a:spcPts val="2800"/>
              </a:lnSpc>
              <a:spcBef>
                <a:spcPct val="0"/>
              </a:spcBef>
            </a:pPr>
            <a:r>
              <a:rPr lang="en-US" sz="2000">
                <a:solidFill>
                  <a:srgbClr val="153969"/>
                </a:solidFill>
                <a:latin typeface="Helios Bold"/>
                <a:ea typeface="Helios Bold"/>
                <a:cs typeface="Helios Bold"/>
                <a:sym typeface="Helios Bold"/>
              </a:rPr>
              <a:t>CASE 3. SAME COLUMN DIFFERENT DESCRIPTION OUTPUT</a:t>
            </a:r>
          </a:p>
        </p:txBody>
      </p:sp>
      <p:sp>
        <p:nvSpPr>
          <p:cNvPr name="TextBox 13" id="13"/>
          <p:cNvSpPr txBox="true"/>
          <p:nvPr/>
        </p:nvSpPr>
        <p:spPr>
          <a:xfrm rot="0">
            <a:off x="896609" y="6702104"/>
            <a:ext cx="6865276" cy="2449830"/>
          </a:xfrm>
          <a:prstGeom prst="rect">
            <a:avLst/>
          </a:prstGeom>
        </p:spPr>
        <p:txBody>
          <a:bodyPr anchor="t" rtlCol="false" tIns="0" lIns="0" bIns="0" rIns="0">
            <a:spAutoFit/>
          </a:bodyPr>
          <a:lstStyle/>
          <a:p>
            <a:pPr algn="l">
              <a:lnSpc>
                <a:spcPts val="1200"/>
              </a:lnSpc>
            </a:pPr>
            <a:r>
              <a:rPr lang="en-US" sz="1200">
                <a:solidFill>
                  <a:srgbClr val="2A2E3A"/>
                </a:solidFill>
                <a:latin typeface="Canva Sans Bold"/>
                <a:ea typeface="Canva Sans Bold"/>
                <a:cs typeface="Canva Sans Bold"/>
                <a:sym typeface="Canva Sans Bold"/>
              </a:rPr>
              <a:t>1. `employees` table: The `manager_id` column in the `employees` table is a foreign key that references the `employee_id` column in the `departments` table. This means that each employee has a department manager, and the manager is an employee in the `employees` table.</a:t>
            </a:r>
          </a:p>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2. `departments` table: The `manager_id` column in the `departments` table is a foreign key that references the `employee_id` column in the `employees` table. This means that each department has a manager, who is an employee in the `employees` table.</a:t>
            </a:r>
          </a:p>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3. `sales` table: The `customer_id` column in the `sales` table is a foreign key that references the `customer_id` column in the `customers` table. This means that each sale is made by a customer, and the customer is stored in the `customers` table.</a:t>
            </a:r>
          </a:p>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4. `sales` table: The `product_id` column in the `sales` table is a foreign key that references the `product_id` column in the `products` table. This means that each sale involves a product, and the product is stored in the `products` table.</a:t>
            </a:r>
          </a:p>
        </p:txBody>
      </p:sp>
      <p:sp>
        <p:nvSpPr>
          <p:cNvPr name="TextBox 14" id="14"/>
          <p:cNvSpPr txBox="true"/>
          <p:nvPr/>
        </p:nvSpPr>
        <p:spPr>
          <a:xfrm rot="0">
            <a:off x="737182" y="6216329"/>
            <a:ext cx="7674787" cy="257175"/>
          </a:xfrm>
          <a:prstGeom prst="rect">
            <a:avLst/>
          </a:prstGeom>
        </p:spPr>
        <p:txBody>
          <a:bodyPr anchor="t" rtlCol="false" tIns="0" lIns="0" bIns="0" rIns="0">
            <a:spAutoFit/>
          </a:bodyPr>
          <a:lstStyle/>
          <a:p>
            <a:pPr algn="l">
              <a:lnSpc>
                <a:spcPts val="2100"/>
              </a:lnSpc>
            </a:pPr>
            <a:r>
              <a:rPr lang="en-US" sz="1500">
                <a:solidFill>
                  <a:srgbClr val="FF3131"/>
                </a:solidFill>
                <a:latin typeface="Canva Sans Bold"/>
                <a:ea typeface="Canva Sans Bold"/>
                <a:cs typeface="Canva Sans Bold"/>
                <a:sym typeface="Canva Sans Bold"/>
              </a:rPr>
              <a:t>Query: Give me foreign key relationship with department table and other table</a:t>
            </a:r>
          </a:p>
        </p:txBody>
      </p:sp>
      <p:sp>
        <p:nvSpPr>
          <p:cNvPr name="TextBox 15" id="15"/>
          <p:cNvSpPr txBox="true"/>
          <p:nvPr/>
        </p:nvSpPr>
        <p:spPr>
          <a:xfrm rot="0">
            <a:off x="9839989" y="5717171"/>
            <a:ext cx="7184130" cy="358775"/>
          </a:xfrm>
          <a:prstGeom prst="rect">
            <a:avLst/>
          </a:prstGeom>
        </p:spPr>
        <p:txBody>
          <a:bodyPr anchor="t" rtlCol="false" tIns="0" lIns="0" bIns="0" rIns="0">
            <a:spAutoFit/>
          </a:bodyPr>
          <a:lstStyle/>
          <a:p>
            <a:pPr algn="l">
              <a:lnSpc>
                <a:spcPts val="2800"/>
              </a:lnSpc>
              <a:spcBef>
                <a:spcPct val="0"/>
              </a:spcBef>
            </a:pPr>
            <a:r>
              <a:rPr lang="en-US" sz="2000">
                <a:solidFill>
                  <a:srgbClr val="153969"/>
                </a:solidFill>
                <a:latin typeface="Helios Bold"/>
                <a:ea typeface="Helios Bold"/>
                <a:cs typeface="Helios Bold"/>
                <a:sym typeface="Helios Bold"/>
              </a:rPr>
              <a:t>CASE 4. DIFFERENT COLUMN NO DESCRIPTION OUTPUT</a:t>
            </a:r>
          </a:p>
        </p:txBody>
      </p:sp>
      <p:sp>
        <p:nvSpPr>
          <p:cNvPr name="TextBox 16" id="16"/>
          <p:cNvSpPr txBox="true"/>
          <p:nvPr/>
        </p:nvSpPr>
        <p:spPr>
          <a:xfrm rot="0">
            <a:off x="9973339" y="6637921"/>
            <a:ext cx="6865276" cy="2754630"/>
          </a:xfrm>
          <a:prstGeom prst="rect">
            <a:avLst/>
          </a:prstGeom>
        </p:spPr>
        <p:txBody>
          <a:bodyPr anchor="t" rtlCol="false" tIns="0" lIns="0" bIns="0" rIns="0">
            <a:spAutoFit/>
          </a:bodyPr>
          <a:lstStyle/>
          <a:p>
            <a:pPr algn="l">
              <a:lnSpc>
                <a:spcPts val="1200"/>
              </a:lnSpc>
            </a:pPr>
            <a:r>
              <a:rPr lang="en-US" sz="1200">
                <a:solidFill>
                  <a:srgbClr val="2A2E3A"/>
                </a:solidFill>
                <a:latin typeface="Canva Sans Bold"/>
                <a:ea typeface="Canva Sans Bold"/>
                <a:cs typeface="Canva Sans Bold"/>
                <a:sym typeface="Canva Sans Bold"/>
              </a:rPr>
              <a:t>1. employees table:</a:t>
            </a:r>
          </a:p>
          <a:p>
            <a:pPr algn="l">
              <a:lnSpc>
                <a:spcPts val="1200"/>
              </a:lnSpc>
            </a:pPr>
            <a:r>
              <a:rPr lang="en-US" sz="1200">
                <a:solidFill>
                  <a:srgbClr val="2A2E3A"/>
                </a:solidFill>
                <a:latin typeface="Canva Sans Bold"/>
                <a:ea typeface="Canva Sans Bold"/>
                <a:cs typeface="Canva Sans Bold"/>
                <a:sym typeface="Canva Sans Bold"/>
              </a:rPr>
              <a:t>   - manager_id (in employees table) is a foreign key referencing department_id (in departments table). This establishes a relationship between the employees and departments tables, where an employee's manager is associated with a specific department.</a:t>
            </a:r>
          </a:p>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2. departments table:</a:t>
            </a:r>
          </a:p>
          <a:p>
            <a:pPr algn="l">
              <a:lnSpc>
                <a:spcPts val="1200"/>
              </a:lnSpc>
            </a:pPr>
            <a:r>
              <a:rPr lang="en-US" sz="1200">
                <a:solidFill>
                  <a:srgbClr val="2A2E3A"/>
                </a:solidFill>
                <a:latin typeface="Canva Sans Bold"/>
                <a:ea typeface="Canva Sans Bold"/>
                <a:cs typeface="Canva Sans Bold"/>
                <a:sym typeface="Canva Sans Bold"/>
              </a:rPr>
              <a:t>   - No foreign keys are defined in the departments table.</a:t>
            </a:r>
          </a:p>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3. inventory table:</a:t>
            </a:r>
          </a:p>
          <a:p>
            <a:pPr algn="l">
              <a:lnSpc>
                <a:spcPts val="1200"/>
              </a:lnSpc>
            </a:pPr>
            <a:r>
              <a:rPr lang="en-US" sz="1200">
                <a:solidFill>
                  <a:srgbClr val="2A2E3A"/>
                </a:solidFill>
                <a:latin typeface="Canva Sans Bold"/>
                <a:ea typeface="Canva Sans Bold"/>
                <a:cs typeface="Canva Sans Bold"/>
                <a:sym typeface="Canva Sans Bold"/>
              </a:rPr>
              <a:t>   - product_id (in inventory table) is a foreign key referencing product_id (in products table). This establishes a relationship between the inventory and products tables, where the inventory records are linked to specific products.</a:t>
            </a:r>
          </a:p>
          <a:p>
            <a:pPr algn="l">
              <a:lnSpc>
                <a:spcPts val="1200"/>
              </a:lnSpc>
            </a:pPr>
          </a:p>
          <a:p>
            <a:pPr algn="l">
              <a:lnSpc>
                <a:spcPts val="1200"/>
              </a:lnSpc>
            </a:pPr>
            <a:r>
              <a:rPr lang="en-US" sz="1200">
                <a:solidFill>
                  <a:srgbClr val="2A2E3A"/>
                </a:solidFill>
                <a:latin typeface="Canva Sans Bold"/>
                <a:ea typeface="Canva Sans Bold"/>
                <a:cs typeface="Canva Sans Bold"/>
                <a:sym typeface="Canva Sans Bold"/>
              </a:rPr>
              <a:t>4. sales table:</a:t>
            </a:r>
          </a:p>
          <a:p>
            <a:pPr algn="l">
              <a:lnSpc>
                <a:spcPts val="1200"/>
              </a:lnSpc>
            </a:pPr>
            <a:r>
              <a:rPr lang="en-US" sz="1200">
                <a:solidFill>
                  <a:srgbClr val="2A2E3A"/>
                </a:solidFill>
                <a:latin typeface="Canva Sans Bold"/>
                <a:ea typeface="Canva Sans Bold"/>
                <a:cs typeface="Canva Sans Bold"/>
                <a:sym typeface="Canva Sans Bold"/>
              </a:rPr>
              <a:t>   - product_id (in sales table) is a foreign key referencing product_id (in products table). This establishes a relationship between the sales and products tables, where the sales records are linked to specific products.</a:t>
            </a:r>
          </a:p>
          <a:p>
            <a:pPr algn="l">
              <a:lnSpc>
                <a:spcPts val="1200"/>
              </a:lnSpc>
            </a:pPr>
          </a:p>
        </p:txBody>
      </p:sp>
      <p:sp>
        <p:nvSpPr>
          <p:cNvPr name="TextBox 17" id="17"/>
          <p:cNvSpPr txBox="true"/>
          <p:nvPr/>
        </p:nvSpPr>
        <p:spPr>
          <a:xfrm rot="0">
            <a:off x="9999415" y="6256921"/>
            <a:ext cx="8288585" cy="257175"/>
          </a:xfrm>
          <a:prstGeom prst="rect">
            <a:avLst/>
          </a:prstGeom>
        </p:spPr>
        <p:txBody>
          <a:bodyPr anchor="t" rtlCol="false" tIns="0" lIns="0" bIns="0" rIns="0">
            <a:spAutoFit/>
          </a:bodyPr>
          <a:lstStyle/>
          <a:p>
            <a:pPr algn="l">
              <a:lnSpc>
                <a:spcPts val="2100"/>
              </a:lnSpc>
            </a:pPr>
            <a:r>
              <a:rPr lang="en-US" sz="1500">
                <a:solidFill>
                  <a:srgbClr val="FF3131"/>
                </a:solidFill>
                <a:latin typeface="Canva Sans Bold"/>
                <a:ea typeface="Canva Sans Bold"/>
                <a:cs typeface="Canva Sans Bold"/>
                <a:sym typeface="Canva Sans Bold"/>
              </a:rPr>
              <a:t>Query: Give me foreign key relationship with department table and other table</a:t>
            </a:r>
          </a:p>
        </p:txBody>
      </p:sp>
      <p:sp>
        <p:nvSpPr>
          <p:cNvPr name="TextBox 18" id="18"/>
          <p:cNvSpPr txBox="true"/>
          <p:nvPr/>
        </p:nvSpPr>
        <p:spPr>
          <a:xfrm rot="0">
            <a:off x="10342250" y="9593259"/>
            <a:ext cx="7687244" cy="431800"/>
          </a:xfrm>
          <a:prstGeom prst="rect">
            <a:avLst/>
          </a:prstGeom>
        </p:spPr>
        <p:txBody>
          <a:bodyPr anchor="t" rtlCol="false" tIns="0" lIns="0" bIns="0" rIns="0">
            <a:spAutoFit/>
          </a:bodyPr>
          <a:lstStyle/>
          <a:p>
            <a:pPr algn="l">
              <a:lnSpc>
                <a:spcPts val="3500"/>
              </a:lnSpc>
            </a:pPr>
            <a:r>
              <a:rPr lang="en-US" sz="2500">
                <a:solidFill>
                  <a:srgbClr val="718BAB"/>
                </a:solidFill>
                <a:latin typeface="Canva Sans Bold"/>
                <a:ea typeface="Canva Sans Bold"/>
                <a:cs typeface="Canva Sans Bold"/>
                <a:sym typeface="Canva Sans Bold"/>
              </a:rPr>
              <a:t>For getting more idea about code refer this</a:t>
            </a:r>
            <a:r>
              <a:rPr lang="en-US" sz="2500">
                <a:solidFill>
                  <a:srgbClr val="000000"/>
                </a:solidFill>
                <a:latin typeface="Canva Sans Bold"/>
                <a:ea typeface="Canva Sans Bold"/>
                <a:cs typeface="Canva Sans Bold"/>
                <a:sym typeface="Canva Sans Bold"/>
              </a:rPr>
              <a:t> </a:t>
            </a:r>
            <a:r>
              <a:rPr lang="en-US" sz="2500">
                <a:solidFill>
                  <a:srgbClr val="153969"/>
                </a:solidFill>
                <a:latin typeface="Canva Sans Bold"/>
                <a:ea typeface="Canva Sans Bold"/>
                <a:cs typeface="Canva Sans Bold"/>
                <a:sym typeface="Canva Sans Bold"/>
              </a:rPr>
              <a:t>link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DAGJ8oHJSaE</dc:identifier>
  <dcterms:modified xsi:type="dcterms:W3CDTF">2011-08-01T06:04:30Z</dcterms:modified>
  <cp:revision>1</cp:revision>
  <dc:title>Hybrid Rag </dc:title>
</cp:coreProperties>
</file>